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5" r:id="rId2"/>
    <p:sldId id="326" r:id="rId3"/>
    <p:sldId id="331" r:id="rId4"/>
    <p:sldId id="327" r:id="rId5"/>
    <p:sldId id="317" r:id="rId6"/>
    <p:sldId id="319" r:id="rId7"/>
    <p:sldId id="321" r:id="rId8"/>
    <p:sldId id="323" r:id="rId9"/>
    <p:sldId id="31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2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D0DC4-E6AF-B576-7FDE-C1D2D95BD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74998C-8856-8969-F60F-320445871F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7875AF-D826-7408-F6B4-5479BE038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05952-88D1-1148-D5C7-5E4E390341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90B052-5E24-A952-4433-FC58CD3A3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194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1B389-4989-A69E-6744-968258A5D1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5F1CD6-6BF5-FCD6-B35A-9D6AC7824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D4C0DA-A0F9-8B92-530F-7831EEFF0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E6B67-2230-7641-1AE9-FFE8480AB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088BEB-B1A5-08ED-8459-F81E7DDD3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353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4595E-9FC9-787F-F0E3-29AF2BC68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759A32-1134-B513-8799-981584BCF5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2A71-033E-F533-8EF5-60B0CCABB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15B743-408C-28B2-962C-2AA01FBE8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45EB7E-0E97-9501-C725-FA3CDB2C0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71106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0325A-6139-E7F0-501F-C3BD3DAF9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AA6CC9-DC7B-CCDA-F221-E10C4F60B6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7F3E63-1511-0436-8933-AEB77F77C3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0B8E1-600C-CFC9-AA35-79CD334B8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51A38-2D0B-F6B7-8F39-2AD514899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13526-4ABD-1CBE-B93B-9B885BB34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6454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CD6AB-F71A-526D-670B-EAAF9BE3BF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6AF723-E84C-01DF-B361-4E8460C0F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15182D-4B0B-7DFC-C31F-48460B61A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2DC550-5D8A-0C7A-635F-A19F6D2C90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25BBAB-072A-811A-51E5-A40132F6DB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E2F3A2-E1A4-7FAA-718A-A8C123DE3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814724-5536-F537-FE6B-99815F461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DC4F6D-7914-FD1F-4231-F57A5ED98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971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CE77E-5E14-2C61-4F45-E5E245FE3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C1AAE-B84B-6A25-1C3C-90FB508F2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4B844A-94B1-82FC-0D7B-D0C666128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1D858B-A37A-298F-C417-803B6E649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4057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FE030A-045E-AF8C-5858-BB74C350C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170BF-B7EB-59F5-A65F-49080086A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8D1376-B4EC-7228-985A-7D1A3FD2D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12930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61480-73E9-793C-5C92-8ADEAF117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626E4-2EDB-CE4C-4B93-DCB8F04F08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717C6D-8E2E-A72F-9B98-CA95F0759C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7EACBD-4291-5A2C-BF3A-4F2CC0F5F0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AC937F-1694-AFA7-4C0E-E804E4017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CAB42B-E8BC-00D7-BD17-E8B987997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523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B89F5-4ECB-0B71-F174-5FD6E364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33BEFD-F6C6-F55C-D598-7F77FDD6AE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A67594-2D47-AA14-E602-235095489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E3FFB-464E-EA32-B105-573D731E8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03BF6-A202-0E3B-1A90-BC7A37683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4ED81-2889-5890-AA73-DF47E0CBE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3700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DB937-70DC-27EA-DB00-54F3FD4A5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FDB5BA-08F8-61E7-4841-6F4CC3D11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39C68B-DAD3-D470-70B7-07102B718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CDFEA0-AAB2-F470-1D32-DFCDD6D3E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82EDD4-FAB5-3B12-32CD-5977A5073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94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E4AA92-D339-9638-17CC-B193DB04F5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8D43E4-E73F-3B80-622C-ED3F64896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18C1DE-E403-AAFE-3DCC-F972BA44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ED7DF-024A-410F-BEC2-E2264F63B7F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0C1AF-554E-A290-5981-0E86B932D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36F0F1-0779-890F-C0AC-B1ABA5C53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DDA51D-D257-492F-B1C6-18381B35FF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256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6A941F-CD69-E0C9-B4EC-FFBCC8298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FA6274-488C-4A8B-519E-6A7812379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AE13C5-08B7-8DB6-52B8-8252733A78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ED7DF-024A-410F-BEC2-E2264F63B7FB}" type="datetimeFigureOut">
              <a:rPr lang="en-US" smtClean="0"/>
              <a:t>9/27/2025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6E632B-4640-B5E7-72DF-24039B2338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9E19F2-C7C0-3DF6-D2AA-8C4092D3D7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DDA51D-D257-492F-B1C6-18381B35FF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6404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allenai/scibert_scivocab_uncased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B72995-A965-BD8C-98F1-DC954AFD08D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Noun-Level Semantic Similarity for Sentence Pair Evaluation Using Token Embeddings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6CDF094-9904-6165-9CEA-BC0AF6DD03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UMAP and Heatmap Visualizations</a:t>
            </a:r>
          </a:p>
        </p:txBody>
      </p:sp>
    </p:spTree>
    <p:extLst>
      <p:ext uri="{BB962C8B-B14F-4D97-AF65-F5344CB8AC3E}">
        <p14:creationId xmlns:p14="http://schemas.microsoft.com/office/powerpoint/2010/main" val="2173312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BB08F-97DB-598A-7B13-F2AF80F5CB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4C8FE-F28B-B5B0-551C-769C88701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5F1A5D-50F1-9F98-1FEF-559BE96D62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Compare the Token-Level Nouns (NOUN and PROPN) from each sentence pair</a:t>
            </a:r>
          </a:p>
          <a:p>
            <a:pPr lvl="1"/>
            <a:r>
              <a:rPr lang="en-US" dirty="0"/>
              <a:t>Compares each noun in the ground-truth sentence to all nouns in the corresponding generated sentence</a:t>
            </a:r>
          </a:p>
          <a:p>
            <a:pPr lvl="1"/>
            <a:r>
              <a:rPr lang="en-US" dirty="0"/>
              <a:t>Compute a similarity for the pair of sentences based on these Token-to-Token similarities.</a:t>
            </a:r>
          </a:p>
          <a:p>
            <a:r>
              <a:rPr lang="en-US" dirty="0"/>
              <a:t>Plot using Uniform Manifold Approximation and Projection (UMAP)</a:t>
            </a:r>
          </a:p>
          <a:p>
            <a:pPr lvl="1"/>
            <a:r>
              <a:rPr lang="en-US" dirty="0"/>
              <a:t>Use KDTree (</a:t>
            </a:r>
            <a:r>
              <a:rPr lang="en-US" i="1" dirty="0"/>
              <a:t>scipy.spatial.KDTree</a:t>
            </a:r>
            <a:r>
              <a:rPr lang="en-US" dirty="0"/>
              <a:t>) – for overlapping points (finding points within a specified distance of other points).</a:t>
            </a:r>
          </a:p>
        </p:txBody>
      </p:sp>
    </p:spTree>
    <p:extLst>
      <p:ext uri="{BB962C8B-B14F-4D97-AF65-F5344CB8AC3E}">
        <p14:creationId xmlns:p14="http://schemas.microsoft.com/office/powerpoint/2010/main" val="2456183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CBC0-D232-7FA7-78AB-06862E54E7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UMAP?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6EE7E-E92C-1C3A-A572-7F7A812D5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Dimensionality Reduction Technique</a:t>
            </a:r>
          </a:p>
          <a:p>
            <a:r>
              <a:rPr lang="en-US" dirty="0"/>
              <a:t>Takes High-Dimensional Vectors </a:t>
            </a:r>
          </a:p>
          <a:p>
            <a:pPr lvl="1"/>
            <a:r>
              <a:rPr lang="en-US" dirty="0"/>
              <a:t>Embeddings of the PoS Noun tokens from </a:t>
            </a:r>
            <a:r>
              <a:rPr lang="en-US" dirty="0" err="1"/>
              <a:t>SentenceTransformer</a:t>
            </a:r>
            <a:endParaRPr lang="en-US" dirty="0"/>
          </a:p>
          <a:p>
            <a:r>
              <a:rPr lang="en-US" dirty="0"/>
              <a:t>Projects Vectors down to 2-Dimensions so they can be visualized in a scatter plot</a:t>
            </a:r>
          </a:p>
        </p:txBody>
      </p:sp>
    </p:spTree>
    <p:extLst>
      <p:ext uri="{BB962C8B-B14F-4D97-AF65-F5344CB8AC3E}">
        <p14:creationId xmlns:p14="http://schemas.microsoft.com/office/powerpoint/2010/main" val="10690120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0FBDA-212D-0076-95DF-10234B261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UMAP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0DC034-4818-16C3-9FF7-72B371A23B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For a sentence pair (ground-truth vs. generated):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Extract nouns (or noun phrases) from both sentences.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Embed each noun using a </a:t>
            </a:r>
            <a:r>
              <a:rPr lang="en-US" dirty="0" err="1"/>
              <a:t>SentenceTransformer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Model: </a:t>
            </a:r>
            <a:r>
              <a:rPr lang="en-US" dirty="0" err="1"/>
              <a:t>SciBERT</a:t>
            </a:r>
            <a:r>
              <a:rPr lang="en-US" dirty="0"/>
              <a:t> (</a:t>
            </a:r>
            <a:r>
              <a:rPr lang="en-US" dirty="0" err="1"/>
              <a:t>allenai</a:t>
            </a:r>
            <a:r>
              <a:rPr lang="en-US" dirty="0"/>
              <a:t>/</a:t>
            </a:r>
            <a:r>
              <a:rPr lang="en-US" dirty="0" err="1"/>
              <a:t>scibert_scivocab_uncased</a:t>
            </a:r>
            <a:r>
              <a:rPr lang="en-US" dirty="0"/>
              <a:t>)</a:t>
            </a:r>
          </a:p>
          <a:p>
            <a:pPr lvl="2"/>
            <a:r>
              <a:rPr lang="en-US" dirty="0"/>
              <a:t>URL: </a:t>
            </a:r>
            <a:r>
              <a:rPr lang="en-US" dirty="0">
                <a:hlinkClick r:id="rId2"/>
              </a:rPr>
              <a:t>https://huggingface.co/allenai/scibert_scivocab_uncased</a:t>
            </a:r>
            <a:endParaRPr lang="en-US" dirty="0"/>
          </a:p>
          <a:p>
            <a:pPr lvl="2"/>
            <a:r>
              <a:rPr lang="en-US" dirty="0"/>
              <a:t>Details:  Pre-trained BERT model trained on massive corpus of scientific papers from semanticscholar.org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Project Embeddings to 2D Using UMAP</a:t>
            </a:r>
          </a:p>
          <a:p>
            <a:pPr lvl="2"/>
            <a:r>
              <a:rPr lang="en-US" dirty="0"/>
              <a:t>Combine the ground-truth and generated embeddings into a single matrix.</a:t>
            </a:r>
          </a:p>
          <a:p>
            <a:pPr lvl="2"/>
            <a:r>
              <a:rPr lang="en-US" dirty="0"/>
              <a:t>Apply UMAP for dimensionality reduction to output 2D coordinates for visualization.</a:t>
            </a:r>
          </a:p>
          <a:p>
            <a:pPr lvl="3"/>
            <a:r>
              <a:rPr lang="en-US" dirty="0"/>
              <a:t>Parameters:</a:t>
            </a:r>
          </a:p>
          <a:p>
            <a:pPr lvl="4"/>
            <a:r>
              <a:rPr lang="en-US" b="1" dirty="0" err="1"/>
              <a:t>n_neighbors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6</a:t>
            </a:r>
            <a:r>
              <a:rPr lang="en-US" dirty="0"/>
              <a:t>) – very local structure (more sensitive to noise) </a:t>
            </a:r>
          </a:p>
          <a:p>
            <a:pPr lvl="5"/>
            <a:r>
              <a:rPr lang="en-US" dirty="0"/>
              <a:t>Controls local vs. global structure (default: 15)</a:t>
            </a:r>
          </a:p>
          <a:p>
            <a:pPr lvl="4"/>
            <a:r>
              <a:rPr lang="en-US" b="1" dirty="0" err="1"/>
              <a:t>min_dist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0.3</a:t>
            </a:r>
            <a:r>
              <a:rPr lang="en-US" dirty="0"/>
              <a:t>) – moderate spacing </a:t>
            </a:r>
          </a:p>
          <a:p>
            <a:pPr lvl="5"/>
            <a:r>
              <a:rPr lang="en-US" dirty="0"/>
              <a:t>Controls compactness of clusters (default: 0.1)</a:t>
            </a:r>
          </a:p>
          <a:p>
            <a:pPr lvl="4"/>
            <a:r>
              <a:rPr lang="en-US" b="1" dirty="0" err="1"/>
              <a:t>random_state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): For reproducibility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Visualize Using </a:t>
            </a:r>
            <a:r>
              <a:rPr lang="en-US" dirty="0" err="1"/>
              <a:t>Plotly</a:t>
            </a:r>
            <a:r>
              <a:rPr lang="en-US" dirty="0"/>
              <a:t> Subplots</a:t>
            </a:r>
          </a:p>
          <a:p>
            <a:pPr marL="914400" lvl="1" indent="-4572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7460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1B83B-D50B-132A-1CE3-581C6C605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6F794E9-8351-7B9C-A25F-FF160AB5DBD7}"/>
              </a:ext>
            </a:extLst>
          </p:cNvPr>
          <p:cNvSpPr txBox="1"/>
          <p:nvPr/>
        </p:nvSpPr>
        <p:spPr>
          <a:xfrm>
            <a:off x="8621368" y="654701"/>
            <a:ext cx="35706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  <a:p>
            <a:endParaRPr lang="en-US" sz="1600" dirty="0"/>
          </a:p>
          <a:p>
            <a:r>
              <a:rPr lang="en-US" sz="1600" dirty="0"/>
              <a:t>Result Samples:</a:t>
            </a:r>
          </a:p>
          <a:p>
            <a:r>
              <a:rPr lang="en-US" sz="1600" dirty="0"/>
              <a:t>BASELINE_R003_GENERATED_TEXT</a:t>
            </a:r>
          </a:p>
          <a:p>
            <a:r>
              <a:rPr lang="en-US" sz="1600" dirty="0"/>
              <a:t>COTSS_R005_GENERATED_TEXT</a:t>
            </a:r>
          </a:p>
          <a:p>
            <a:r>
              <a:rPr lang="en-US" sz="1600" dirty="0"/>
              <a:t>COTKG_R009_GENERATED_TEXT</a:t>
            </a:r>
          </a:p>
          <a:p>
            <a:r>
              <a:rPr lang="en-US" sz="1600" dirty="0"/>
              <a:t>COTSSKG_R006_GENERATED_TEXT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7C10AD8-FDD0-6D5B-8024-15CB13FC2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368" y="88326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BD19C0-1BE0-BF86-3DA5-9557C523259D}"/>
              </a:ext>
            </a:extLst>
          </p:cNvPr>
          <p:cNvSpPr txBox="1"/>
          <p:nvPr/>
        </p:nvSpPr>
        <p:spPr>
          <a:xfrm>
            <a:off x="8621368" y="3517326"/>
            <a:ext cx="33832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chosen parameters </a:t>
            </a:r>
            <a:r>
              <a:rPr lang="en-US" b="1" dirty="0"/>
              <a:t>random_state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), </a:t>
            </a:r>
            <a:r>
              <a:rPr lang="en-US" b="1" dirty="0"/>
              <a:t>n_neighbors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6</a:t>
            </a:r>
            <a:r>
              <a:rPr lang="en-US" dirty="0"/>
              <a:t>)  and </a:t>
            </a:r>
            <a:r>
              <a:rPr lang="en-US" b="1" dirty="0"/>
              <a:t>min_dist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0.3</a:t>
            </a:r>
            <a:r>
              <a:rPr lang="en-US" dirty="0"/>
              <a:t>) effectively highlight lexical and conceptual precision in generated outputs. </a:t>
            </a:r>
          </a:p>
        </p:txBody>
      </p:sp>
      <p:pic>
        <p:nvPicPr>
          <p:cNvPr id="13" name="Picture 12" descr="A screenshot of a graph&#10;&#10;AI-generated content may be incorrect.">
            <a:extLst>
              <a:ext uri="{FF2B5EF4-FFF2-40B4-BE49-F238E27FC236}">
                <a16:creationId xmlns:a16="http://schemas.microsoft.com/office/drawing/2014/main" id="{386812C5-A0DE-1CBD-0CE0-9138EADEC8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8326"/>
            <a:ext cx="838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960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809A2-35BC-F68C-80E4-679F4B397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00AAFD69-3976-1265-D88E-0312408649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9715" y="0"/>
            <a:ext cx="8382000" cy="68580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C3BD238-09CD-D79A-3489-ADB92543A5F0}"/>
              </a:ext>
            </a:extLst>
          </p:cNvPr>
          <p:cNvSpPr txBox="1"/>
          <p:nvPr/>
        </p:nvSpPr>
        <p:spPr>
          <a:xfrm>
            <a:off x="8621368" y="654701"/>
            <a:ext cx="35706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  <a:p>
            <a:endParaRPr lang="en-US" sz="1600" dirty="0"/>
          </a:p>
          <a:p>
            <a:r>
              <a:rPr lang="en-US" sz="1600" dirty="0"/>
              <a:t>Result Samples:</a:t>
            </a:r>
          </a:p>
          <a:p>
            <a:r>
              <a:rPr lang="en-US" sz="1600" dirty="0"/>
              <a:t>BASELINE_R041_GENERATED_TEXT</a:t>
            </a:r>
          </a:p>
          <a:p>
            <a:r>
              <a:rPr lang="en-US" sz="1600" dirty="0"/>
              <a:t>COTSS_R044_GENERATED_TEXT</a:t>
            </a:r>
          </a:p>
          <a:p>
            <a:r>
              <a:rPr lang="en-US" sz="1600" dirty="0"/>
              <a:t>COTKG_R028_GENERATED_TEXT</a:t>
            </a:r>
          </a:p>
          <a:p>
            <a:r>
              <a:rPr lang="en-US" sz="1600" dirty="0"/>
              <a:t>COTSSKG_R033_GENERATED_TEXT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B96DD6A-46FB-2F6A-C839-A9FDDD53C1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368" y="31285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70AF286-C2AD-8057-EAA3-3A7A22DEAA38}"/>
              </a:ext>
            </a:extLst>
          </p:cNvPr>
          <p:cNvSpPr txBox="1"/>
          <p:nvPr/>
        </p:nvSpPr>
        <p:spPr>
          <a:xfrm>
            <a:off x="8621368" y="3517326"/>
            <a:ext cx="33832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chosen parameters </a:t>
            </a:r>
            <a:r>
              <a:rPr lang="en-US" b="1" dirty="0"/>
              <a:t>random_state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), </a:t>
            </a:r>
            <a:r>
              <a:rPr lang="en-US" b="1" dirty="0"/>
              <a:t>n_neighbors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6</a:t>
            </a:r>
            <a:r>
              <a:rPr lang="en-US" dirty="0"/>
              <a:t>)  and </a:t>
            </a:r>
            <a:r>
              <a:rPr lang="en-US" b="1" dirty="0"/>
              <a:t>min_dist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0.3</a:t>
            </a:r>
            <a:r>
              <a:rPr lang="en-US" dirty="0"/>
              <a:t>) effectively highlight lexical and conceptual precision in generated outputs. </a:t>
            </a:r>
          </a:p>
        </p:txBody>
      </p:sp>
    </p:spTree>
    <p:extLst>
      <p:ext uri="{BB962C8B-B14F-4D97-AF65-F5344CB8AC3E}">
        <p14:creationId xmlns:p14="http://schemas.microsoft.com/office/powerpoint/2010/main" val="28579236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C366A-BD1E-A8D9-482C-3D0F362134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53CC22B-5FB2-AA2B-9161-D5B7252668CA}"/>
              </a:ext>
            </a:extLst>
          </p:cNvPr>
          <p:cNvSpPr txBox="1"/>
          <p:nvPr/>
        </p:nvSpPr>
        <p:spPr>
          <a:xfrm>
            <a:off x="8621368" y="654701"/>
            <a:ext cx="35706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  <a:p>
            <a:endParaRPr lang="en-US" sz="1600" dirty="0"/>
          </a:p>
          <a:p>
            <a:r>
              <a:rPr lang="en-US" sz="1600" dirty="0"/>
              <a:t>Result Samples:</a:t>
            </a:r>
          </a:p>
          <a:p>
            <a:r>
              <a:rPr lang="en-US" sz="1600" dirty="0"/>
              <a:t>BASELINE_R068_GENERATED_TEXT</a:t>
            </a:r>
          </a:p>
          <a:p>
            <a:r>
              <a:rPr lang="en-US" sz="1600" dirty="0"/>
              <a:t>COTSS_R057_GENERATED_TEXT</a:t>
            </a:r>
          </a:p>
          <a:p>
            <a:r>
              <a:rPr lang="en-US" sz="1600" dirty="0"/>
              <a:t>COTKG_R042_GENERATED_TEXT</a:t>
            </a:r>
          </a:p>
          <a:p>
            <a:r>
              <a:rPr lang="en-US" sz="1600" dirty="0"/>
              <a:t>COTSSKG_R051_GENERATED_TEXT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FB5B881F-87A1-BCCB-F7A6-D3294BBCD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368" y="31285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9B2F19D-E897-440F-EEDA-9AA5D284C7E5}"/>
              </a:ext>
            </a:extLst>
          </p:cNvPr>
          <p:cNvSpPr txBox="1"/>
          <p:nvPr/>
        </p:nvSpPr>
        <p:spPr>
          <a:xfrm>
            <a:off x="8621368" y="3517326"/>
            <a:ext cx="33832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chosen parameters </a:t>
            </a:r>
            <a:r>
              <a:rPr lang="en-US" b="1" dirty="0"/>
              <a:t>random_state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), </a:t>
            </a:r>
            <a:r>
              <a:rPr lang="en-US" b="1" dirty="0"/>
              <a:t>n_neighbors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6</a:t>
            </a:r>
            <a:r>
              <a:rPr lang="en-US" dirty="0"/>
              <a:t>)  and </a:t>
            </a:r>
            <a:r>
              <a:rPr lang="en-US" b="1" dirty="0"/>
              <a:t>min_dist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0.3</a:t>
            </a:r>
            <a:r>
              <a:rPr lang="en-US" dirty="0"/>
              <a:t>) effectively highlight lexical and conceptual precision in generated outputs. </a:t>
            </a:r>
          </a:p>
        </p:txBody>
      </p:sp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1F7C39A6-CB23-C1F6-CC8A-DAFABC3508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8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54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5B33B-167E-1438-1F0D-953EF678F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8F98EE2-0A30-665B-F71D-F8102F51E801}"/>
              </a:ext>
            </a:extLst>
          </p:cNvPr>
          <p:cNvSpPr txBox="1"/>
          <p:nvPr/>
        </p:nvSpPr>
        <p:spPr>
          <a:xfrm>
            <a:off x="8621368" y="654701"/>
            <a:ext cx="35706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  <a:p>
            <a:endParaRPr lang="en-US" sz="1600" dirty="0"/>
          </a:p>
          <a:p>
            <a:r>
              <a:rPr lang="en-US" sz="1600" dirty="0"/>
              <a:t>Result Samples:</a:t>
            </a:r>
          </a:p>
          <a:p>
            <a:r>
              <a:rPr lang="en-US" sz="1600" dirty="0"/>
              <a:t>BASELINE_R088_GENERATED_TEXT</a:t>
            </a:r>
          </a:p>
          <a:p>
            <a:r>
              <a:rPr lang="en-US" sz="1600" dirty="0"/>
              <a:t>COTSS_R074_GENERATED_TEXT</a:t>
            </a:r>
          </a:p>
          <a:p>
            <a:r>
              <a:rPr lang="en-US" sz="1600" dirty="0"/>
              <a:t>COTKG_R069_GENERATED_TEXT</a:t>
            </a:r>
          </a:p>
          <a:p>
            <a:r>
              <a:rPr lang="en-US" sz="1600" dirty="0"/>
              <a:t>COTSSKG_R065_GENERATED_TEXT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D2D461F-69C3-1117-302F-E1F79FF22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368" y="31285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ABA91F-1A2F-368F-DE87-B54C970ABC68}"/>
              </a:ext>
            </a:extLst>
          </p:cNvPr>
          <p:cNvSpPr txBox="1"/>
          <p:nvPr/>
        </p:nvSpPr>
        <p:spPr>
          <a:xfrm>
            <a:off x="8621368" y="3517326"/>
            <a:ext cx="33832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chosen parameters </a:t>
            </a:r>
            <a:r>
              <a:rPr lang="en-US" b="1" dirty="0"/>
              <a:t>random_state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), </a:t>
            </a:r>
            <a:r>
              <a:rPr lang="en-US" b="1" dirty="0"/>
              <a:t>n_neighbors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6</a:t>
            </a:r>
            <a:r>
              <a:rPr lang="en-US" dirty="0"/>
              <a:t>)  and </a:t>
            </a:r>
            <a:r>
              <a:rPr lang="en-US" b="1" dirty="0"/>
              <a:t>min_dist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0.3</a:t>
            </a:r>
            <a:r>
              <a:rPr lang="en-US" dirty="0"/>
              <a:t>) effectively highlight lexical and conceptual precision in generated outputs. </a:t>
            </a:r>
          </a:p>
        </p:txBody>
      </p:sp>
      <p:pic>
        <p:nvPicPr>
          <p:cNvPr id="15" name="Picture 14" descr="A screenshot of a graph&#10;&#10;AI-generated content may be incorrect.">
            <a:extLst>
              <a:ext uri="{FF2B5EF4-FFF2-40B4-BE49-F238E27FC236}">
                <a16:creationId xmlns:a16="http://schemas.microsoft.com/office/drawing/2014/main" id="{3E146BF5-5DBC-E7E8-284D-6502525F8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8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163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6A53792B-477E-27D4-8EAE-B6702604B1F4}"/>
              </a:ext>
            </a:extLst>
          </p:cNvPr>
          <p:cNvSpPr txBox="1"/>
          <p:nvPr/>
        </p:nvSpPr>
        <p:spPr>
          <a:xfrm>
            <a:off x="8621368" y="654701"/>
            <a:ext cx="3570632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Clinical Case B: </a:t>
            </a:r>
          </a:p>
          <a:p>
            <a:endParaRPr lang="en-US" sz="1600" dirty="0"/>
          </a:p>
          <a:p>
            <a:r>
              <a:rPr lang="en-US" sz="1600" dirty="0"/>
              <a:t>ICD Code: K08109</a:t>
            </a:r>
          </a:p>
          <a:p>
            <a:r>
              <a:rPr lang="en-US" sz="1600" dirty="0"/>
              <a:t>Text Reference: edentulism</a:t>
            </a:r>
          </a:p>
          <a:p>
            <a:endParaRPr lang="en-US" sz="1600" dirty="0"/>
          </a:p>
          <a:p>
            <a:r>
              <a:rPr lang="en-US" sz="1600" dirty="0"/>
              <a:t>Result Samples:</a:t>
            </a:r>
          </a:p>
          <a:p>
            <a:r>
              <a:rPr lang="en-US" sz="1600" dirty="0"/>
              <a:t>BASELINE_R096_GENERATED_TEXT</a:t>
            </a:r>
          </a:p>
          <a:p>
            <a:r>
              <a:rPr lang="en-US" sz="1600" dirty="0"/>
              <a:t>COTSS_R095_GENERATED_TEXT</a:t>
            </a:r>
          </a:p>
          <a:p>
            <a:r>
              <a:rPr lang="en-US" sz="1600" dirty="0"/>
              <a:t>COTKG_R084_GENERATED_TEXT</a:t>
            </a:r>
          </a:p>
          <a:p>
            <a:r>
              <a:rPr lang="en-US" sz="1600" dirty="0"/>
              <a:t>COTSSKG_R078_GENERATED_TEXT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EF785CE0-E628-39AA-3BF3-7ED4216E27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1368" y="31285"/>
            <a:ext cx="3112363" cy="469376"/>
          </a:xfrm>
        </p:spPr>
        <p:txBody>
          <a:bodyPr>
            <a:normAutofit fontScale="90000"/>
          </a:bodyPr>
          <a:lstStyle/>
          <a:p>
            <a:r>
              <a:rPr lang="en-US" sz="3200" dirty="0"/>
              <a:t>Sample #5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7092F7-C52C-F902-ADC9-83973163B4C2}"/>
              </a:ext>
            </a:extLst>
          </p:cNvPr>
          <p:cNvSpPr txBox="1"/>
          <p:nvPr/>
        </p:nvSpPr>
        <p:spPr>
          <a:xfrm>
            <a:off x="8621368" y="3517326"/>
            <a:ext cx="338322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chosen parameters </a:t>
            </a:r>
            <a:r>
              <a:rPr lang="en-US" b="1" dirty="0"/>
              <a:t>random_state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1</a:t>
            </a:r>
            <a:r>
              <a:rPr lang="en-US" dirty="0"/>
              <a:t>), </a:t>
            </a:r>
            <a:r>
              <a:rPr lang="en-US" b="1" dirty="0"/>
              <a:t>n_neighbors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6</a:t>
            </a:r>
            <a:r>
              <a:rPr lang="en-US" dirty="0"/>
              <a:t>)  and </a:t>
            </a:r>
            <a:r>
              <a:rPr lang="en-US" b="1" dirty="0"/>
              <a:t>min_dist </a:t>
            </a:r>
            <a:r>
              <a:rPr lang="en-US" dirty="0"/>
              <a:t>(</a:t>
            </a:r>
            <a:r>
              <a:rPr lang="en-US" b="1" dirty="0">
                <a:solidFill>
                  <a:schemeClr val="accent1"/>
                </a:solidFill>
              </a:rPr>
              <a:t>0.3</a:t>
            </a:r>
            <a:r>
              <a:rPr lang="en-US" dirty="0"/>
              <a:t>) effectively highlight lexical and conceptual precision in generated outputs. </a:t>
            </a:r>
          </a:p>
        </p:txBody>
      </p:sp>
      <p:pic>
        <p:nvPicPr>
          <p:cNvPr id="18" name="Picture 17" descr="A screenshot of a graph&#10;&#10;AI-generated content may be incorrect.">
            <a:extLst>
              <a:ext uri="{FF2B5EF4-FFF2-40B4-BE49-F238E27FC236}">
                <a16:creationId xmlns:a16="http://schemas.microsoft.com/office/drawing/2014/main" id="{6599E59D-D131-BC8B-C8A0-EEB6100138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38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141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674</Words>
  <Application>Microsoft Office PowerPoint</Application>
  <PresentationFormat>Widescreen</PresentationFormat>
  <Paragraphs>90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Noun-Level Semantic Similarity for Sentence Pair Evaluation Using Token Embeddings</vt:lpstr>
      <vt:lpstr>Goal</vt:lpstr>
      <vt:lpstr>What is UMAP?</vt:lpstr>
      <vt:lpstr>UMAP Steps</vt:lpstr>
      <vt:lpstr>Sample #1</vt:lpstr>
      <vt:lpstr>Sample #2</vt:lpstr>
      <vt:lpstr>Sample #3</vt:lpstr>
      <vt:lpstr>Sample #4</vt:lpstr>
      <vt:lpstr>Sample #5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MAKOHON, IVAN</dc:creator>
  <cp:lastModifiedBy>MAKOHON, IVAN</cp:lastModifiedBy>
  <cp:revision>17</cp:revision>
  <dcterms:created xsi:type="dcterms:W3CDTF">2025-06-24T19:01:55Z</dcterms:created>
  <dcterms:modified xsi:type="dcterms:W3CDTF">2025-09-27T16:27:41Z</dcterms:modified>
</cp:coreProperties>
</file>