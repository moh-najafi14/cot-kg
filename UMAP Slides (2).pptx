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25" r:id="rId2"/>
    <p:sldId id="326" r:id="rId3"/>
    <p:sldId id="331" r:id="rId4"/>
    <p:sldId id="327" r:id="rId5"/>
    <p:sldId id="317" r:id="rId6"/>
    <p:sldId id="328" r:id="rId7"/>
    <p:sldId id="318" r:id="rId8"/>
    <p:sldId id="330" r:id="rId9"/>
    <p:sldId id="329" r:id="rId10"/>
    <p:sldId id="319" r:id="rId11"/>
    <p:sldId id="320" r:id="rId12"/>
    <p:sldId id="321" r:id="rId13"/>
    <p:sldId id="322" r:id="rId14"/>
    <p:sldId id="323" r:id="rId15"/>
    <p:sldId id="324" r:id="rId16"/>
    <p:sldId id="315" r:id="rId17"/>
    <p:sldId id="316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1" d="100"/>
          <a:sy n="131" d="100"/>
        </p:scale>
        <p:origin x="150" y="3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CD0DC4-E6AF-B576-7FDE-C1D2D95BDF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74998C-8856-8969-F60F-320445871F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7875AF-D826-7408-F6B4-5479BE038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ED7DF-024A-410F-BEC2-E2264F63B7FB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405952-88D1-1148-D5C7-5E4E39034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90B052-5E24-A952-4433-FC58CD3A37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DA51D-D257-492F-B1C6-18381B35FF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11949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B1B389-4989-A69E-6744-968258A5D1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5F1CD6-6BF5-FCD6-B35A-9D6AC78243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D4C0DA-A0F9-8B92-530F-7831EEFF09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ED7DF-024A-410F-BEC2-E2264F63B7FB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AE6B67-2230-7641-1AE9-FFE8480ABF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088BEB-B1A5-08ED-8459-F81E7DDD3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DA51D-D257-492F-B1C6-18381B35FF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83533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24595E-9FC9-787F-F0E3-29AF2BC68D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759A32-1134-B513-8799-981584BCF5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752A71-033E-F533-8EF5-60B0CCABB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ED7DF-024A-410F-BEC2-E2264F63B7FB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15B743-408C-28B2-962C-2AA01FBE8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45EB7E-0E97-9501-C725-FA3CDB2C0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DA51D-D257-492F-B1C6-18381B35FF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71106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D0325A-6139-E7F0-501F-C3BD3DAF9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AA6CC9-DC7B-CCDA-F221-E10C4F60B6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7F3E63-1511-0436-8933-AEB77F77C3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70B8E1-600C-CFC9-AA35-79CD334B84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ED7DF-024A-410F-BEC2-E2264F63B7FB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751A38-2D0B-F6B7-8F39-2AD5148991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913526-4ABD-1CBE-B93B-9B885BB34E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DA51D-D257-492F-B1C6-18381B35FF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64544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CD6AB-F71A-526D-670B-EAAF9BE3B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6AF723-E84C-01DF-B361-4E8460C0F1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15182D-4B0B-7DFC-C31F-48460B61AE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B2DC550-5D8A-0C7A-635F-A19F6D2C90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B25BBAB-072A-811A-51E5-A40132F6DBB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9E2F3A2-E1A4-7FAA-718A-A8C123DE3E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ED7DF-024A-410F-BEC2-E2264F63B7FB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B814724-5536-F537-FE6B-99815F461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7DC4F6D-7914-FD1F-4231-F57A5ED989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DA51D-D257-492F-B1C6-18381B35FF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59719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BCE77E-5E14-2C61-4F45-E5E245FE3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8AC1AAE-B84B-6A25-1C3C-90FB508F20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ED7DF-024A-410F-BEC2-E2264F63B7FB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4B844A-94B1-82FC-0D7B-D0C666128C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1D858B-A37A-298F-C417-803B6E649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DA51D-D257-492F-B1C6-18381B35FF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0572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3FE030A-045E-AF8C-5858-BB74C350C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ED7DF-024A-410F-BEC2-E2264F63B7FB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48170BF-B7EB-59F5-A65F-49080086A7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8D1376-B4EC-7228-985A-7D1A3FD2DC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DA51D-D257-492F-B1C6-18381B35FF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12930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C61480-73E9-793C-5C92-8ADEAF1170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9626E4-2EDB-CE4C-4B93-DCB8F04F08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717C6D-8E2E-A72F-9B98-CA95F0759C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7EACBD-4291-5A2C-BF3A-4F2CC0F5F0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ED7DF-024A-410F-BEC2-E2264F63B7FB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AC937F-1694-AFA7-4C0E-E804E40179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CAB42B-E8BC-00D7-BD17-E8B9879973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DA51D-D257-492F-B1C6-18381B35FF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52340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DB89F5-4ECB-0B71-F174-5FD6E36430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233BEFD-F6C6-F55C-D598-7F77FDD6AE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A67594-2D47-AA14-E602-235095489B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1E3FFB-464E-EA32-B105-573D731E8A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ED7DF-024A-410F-BEC2-E2264F63B7FB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403BF6-A202-0E3B-1A90-BC7A37683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54ED81-2889-5890-AA73-DF47E0CBE5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DA51D-D257-492F-B1C6-18381B35FF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73700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DB937-70DC-27EA-DB00-54F3FD4A5D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FDB5BA-08F8-61E7-4841-6F4CC3D116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39C68B-DAD3-D470-70B7-07102B7187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ED7DF-024A-410F-BEC2-E2264F63B7FB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CDFEA0-AAB2-F470-1D32-DFCDD6D3E7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82EDD4-FAB5-3B12-32CD-5977A5073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DA51D-D257-492F-B1C6-18381B35FF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9401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4E4AA92-D339-9638-17CC-B193DB04F5E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8D43E4-E73F-3B80-622C-ED3F648963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18C1DE-E403-AAFE-3DCC-F972BA4435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ED7DF-024A-410F-BEC2-E2264F63B7FB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C0C1AF-554E-A290-5981-0E86B932D4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36F0F1-0779-890F-C0AC-B1ABA5C53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DA51D-D257-492F-B1C6-18381B35FF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5610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36A941F-CD69-E0C9-B4EC-FFBCC82981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FA6274-488C-4A8B-519E-6A78123793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AE13C5-08B7-8DB6-52B8-8252733A78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EED7DF-024A-410F-BEC2-E2264F63B7FB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6E632B-4640-B5E7-72DF-24039B2338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9E19F2-C7C0-3DF6-D2AA-8C4092D3D7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8DDA51D-D257-492F-B1C6-18381B35FF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64043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huggingface.co/allenai/scibert_scivocab_uncased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huggingface.co/allenai/scibert_scivocab_uncased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5B72995-A965-BD8C-98F1-DC954AFD08D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Noun-Level Semantic Similarity for Sentence Pair Evaluation Using Token Embeddings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A6CDF094-9904-6165-9CEA-BC0AF6DD035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UMAP and Heatmap Visualizations</a:t>
            </a:r>
          </a:p>
        </p:txBody>
      </p:sp>
    </p:spTree>
    <p:extLst>
      <p:ext uri="{BB962C8B-B14F-4D97-AF65-F5344CB8AC3E}">
        <p14:creationId xmlns:p14="http://schemas.microsoft.com/office/powerpoint/2010/main" val="21733123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8BB08F-97DB-598A-7B13-F2AF80F5CB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84C8FE-F28B-B5B0-551C-769C887010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5F1A5D-50F1-9F98-1FEF-559BE96D62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Compare the Token-Level Nouns (NOUN and PROPN) from each sentence pair</a:t>
            </a:r>
          </a:p>
          <a:p>
            <a:pPr lvl="1"/>
            <a:r>
              <a:rPr lang="en-US" dirty="0"/>
              <a:t>Compares each noun in the ground-truth sentence to all nouns in the corresponding generated sentence</a:t>
            </a:r>
          </a:p>
          <a:p>
            <a:pPr lvl="1"/>
            <a:r>
              <a:rPr lang="en-US" dirty="0"/>
              <a:t>Compute a similarity for the pair of sentences based on these Token-to-Token similarities.</a:t>
            </a:r>
          </a:p>
          <a:p>
            <a:r>
              <a:rPr lang="en-US" dirty="0"/>
              <a:t>Plot using Uniform Manifold Approximation and Projection (UMAP)</a:t>
            </a:r>
          </a:p>
          <a:p>
            <a:r>
              <a:rPr lang="en-US" dirty="0"/>
              <a:t>Plot using Heatmap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61839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09CBC0-D232-7FA7-78AB-06862E54E7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UMAP?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46EE7E-E92C-1C3A-A572-7F7A812D51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Dimensionality Reduction Technique</a:t>
            </a:r>
          </a:p>
          <a:p>
            <a:r>
              <a:rPr lang="en-US" dirty="0"/>
              <a:t>Takes High-Dimensional Vectors </a:t>
            </a:r>
          </a:p>
          <a:p>
            <a:pPr lvl="1"/>
            <a:r>
              <a:rPr lang="en-US" dirty="0"/>
              <a:t>Embeddings of the </a:t>
            </a:r>
            <a:r>
              <a:rPr lang="en-US" dirty="0" err="1"/>
              <a:t>PoS</a:t>
            </a:r>
            <a:r>
              <a:rPr lang="en-US" dirty="0"/>
              <a:t> Noun tokens from </a:t>
            </a:r>
            <a:r>
              <a:rPr lang="en-US" dirty="0" err="1"/>
              <a:t>SentenceTransformer</a:t>
            </a:r>
            <a:endParaRPr lang="en-US" dirty="0"/>
          </a:p>
          <a:p>
            <a:r>
              <a:rPr lang="en-US" dirty="0"/>
              <a:t>Projects Vectors down to 2-Dimensions so they can be visualized in a scatter plot</a:t>
            </a:r>
          </a:p>
        </p:txBody>
      </p:sp>
    </p:spTree>
    <p:extLst>
      <p:ext uri="{BB962C8B-B14F-4D97-AF65-F5344CB8AC3E}">
        <p14:creationId xmlns:p14="http://schemas.microsoft.com/office/powerpoint/2010/main" val="10690120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40FBDA-212D-0076-95DF-10234B261E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UMAP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0DC034-4818-16C3-9FF7-72B371A23B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For a sentence pair (ground-truth vs. generated):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Extract nouns (or noun phrases) from both sentences.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Embed each noun using a </a:t>
            </a:r>
            <a:r>
              <a:rPr lang="en-US" dirty="0" err="1"/>
              <a:t>SentenceTransformer</a:t>
            </a:r>
            <a:r>
              <a:rPr lang="en-US" dirty="0"/>
              <a:t>:</a:t>
            </a:r>
          </a:p>
          <a:p>
            <a:pPr lvl="2"/>
            <a:r>
              <a:rPr lang="en-US" dirty="0"/>
              <a:t>Model: </a:t>
            </a:r>
            <a:r>
              <a:rPr lang="en-US" dirty="0" err="1"/>
              <a:t>SciBERT</a:t>
            </a:r>
            <a:r>
              <a:rPr lang="en-US" dirty="0"/>
              <a:t> (</a:t>
            </a:r>
            <a:r>
              <a:rPr lang="en-US" dirty="0" err="1"/>
              <a:t>allenai</a:t>
            </a:r>
            <a:r>
              <a:rPr lang="en-US" dirty="0"/>
              <a:t>/</a:t>
            </a:r>
            <a:r>
              <a:rPr lang="en-US" dirty="0" err="1"/>
              <a:t>scibert_scivocab_uncased</a:t>
            </a:r>
            <a:r>
              <a:rPr lang="en-US" dirty="0"/>
              <a:t>)</a:t>
            </a:r>
          </a:p>
          <a:p>
            <a:pPr lvl="2"/>
            <a:r>
              <a:rPr lang="en-US" dirty="0"/>
              <a:t>URL: </a:t>
            </a:r>
            <a:r>
              <a:rPr lang="en-US" dirty="0">
                <a:hlinkClick r:id="rId2"/>
              </a:rPr>
              <a:t>https://huggingface.co/allenai/scibert_scivocab_uncased</a:t>
            </a:r>
            <a:endParaRPr lang="en-US" dirty="0"/>
          </a:p>
          <a:p>
            <a:pPr lvl="2"/>
            <a:r>
              <a:rPr lang="en-US" dirty="0"/>
              <a:t>Details:  Pre-trained BERT model trained on massive corpus of scientific papers from semanticscholar.org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Project Embeddings to 2D Using UMAP</a:t>
            </a:r>
          </a:p>
          <a:p>
            <a:pPr lvl="2"/>
            <a:r>
              <a:rPr lang="en-US" dirty="0"/>
              <a:t>Combine the ground-truth and generated embeddings into a single matrix.</a:t>
            </a:r>
          </a:p>
          <a:p>
            <a:pPr lvl="2"/>
            <a:r>
              <a:rPr lang="en-US" dirty="0"/>
              <a:t>Apply UMAP for dimensionality reduction to output 2D coordinates for visualization.</a:t>
            </a:r>
          </a:p>
          <a:p>
            <a:pPr lvl="3"/>
            <a:r>
              <a:rPr lang="en-US" dirty="0"/>
              <a:t>Parameters:</a:t>
            </a:r>
          </a:p>
          <a:p>
            <a:pPr lvl="4"/>
            <a:r>
              <a:rPr lang="en-US" b="1" dirty="0" err="1"/>
              <a:t>n_neighbors</a:t>
            </a:r>
            <a:r>
              <a:rPr lang="en-US" b="1" dirty="0"/>
              <a:t> </a:t>
            </a:r>
            <a:r>
              <a:rPr lang="en-US" dirty="0"/>
              <a:t>(</a:t>
            </a:r>
            <a:r>
              <a:rPr lang="en-US" b="1" dirty="0">
                <a:solidFill>
                  <a:schemeClr val="accent1"/>
                </a:solidFill>
              </a:rPr>
              <a:t>6</a:t>
            </a:r>
            <a:r>
              <a:rPr lang="en-US" dirty="0"/>
              <a:t>) – very local structure (more sensitive to noise) </a:t>
            </a:r>
          </a:p>
          <a:p>
            <a:pPr lvl="5"/>
            <a:r>
              <a:rPr lang="en-US" dirty="0"/>
              <a:t>Controls local vs. global structure (default: 15)</a:t>
            </a:r>
          </a:p>
          <a:p>
            <a:pPr lvl="4"/>
            <a:r>
              <a:rPr lang="en-US" b="1" dirty="0" err="1"/>
              <a:t>min_dist</a:t>
            </a:r>
            <a:r>
              <a:rPr lang="en-US" b="1" dirty="0"/>
              <a:t> </a:t>
            </a:r>
            <a:r>
              <a:rPr lang="en-US" dirty="0"/>
              <a:t>(</a:t>
            </a:r>
            <a:r>
              <a:rPr lang="en-US" b="1" dirty="0">
                <a:solidFill>
                  <a:schemeClr val="accent1"/>
                </a:solidFill>
              </a:rPr>
              <a:t>0.3</a:t>
            </a:r>
            <a:r>
              <a:rPr lang="en-US" dirty="0"/>
              <a:t>) – moderate spacing </a:t>
            </a:r>
          </a:p>
          <a:p>
            <a:pPr lvl="5"/>
            <a:r>
              <a:rPr lang="en-US" dirty="0"/>
              <a:t>Controls compactness of clusters (default: 0.1)</a:t>
            </a:r>
          </a:p>
          <a:p>
            <a:pPr lvl="4"/>
            <a:r>
              <a:rPr lang="en-US" b="1" dirty="0" err="1"/>
              <a:t>random_state</a:t>
            </a:r>
            <a:r>
              <a:rPr lang="en-US" b="1" dirty="0"/>
              <a:t> </a:t>
            </a:r>
            <a:r>
              <a:rPr lang="en-US" dirty="0"/>
              <a:t>(</a:t>
            </a:r>
            <a:r>
              <a:rPr lang="en-US" b="1" dirty="0">
                <a:solidFill>
                  <a:schemeClr val="accent1"/>
                </a:solidFill>
              </a:rPr>
              <a:t>1</a:t>
            </a:r>
            <a:r>
              <a:rPr lang="en-US" dirty="0"/>
              <a:t>): For reproducibility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Visualize Using </a:t>
            </a:r>
            <a:r>
              <a:rPr lang="en-US" dirty="0" err="1"/>
              <a:t>Plotly</a:t>
            </a:r>
            <a:r>
              <a:rPr lang="en-US" dirty="0"/>
              <a:t> Subplots</a:t>
            </a:r>
          </a:p>
          <a:p>
            <a:pPr marL="914400" lvl="1" indent="-45720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74606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01B83B-D50B-132A-1CE3-581C6C6058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FB1FE1E-1CD9-CBD8-6CED-D9ECBA925B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07" y="941033"/>
            <a:ext cx="7508777" cy="591696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6F794E9-8351-7B9C-A25F-FF160AB5DBD7}"/>
              </a:ext>
            </a:extLst>
          </p:cNvPr>
          <p:cNvSpPr txBox="1"/>
          <p:nvPr/>
        </p:nvSpPr>
        <p:spPr>
          <a:xfrm>
            <a:off x="8847272" y="243738"/>
            <a:ext cx="3570632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Clinical Case B: </a:t>
            </a:r>
          </a:p>
          <a:p>
            <a:endParaRPr lang="en-US" sz="1600" dirty="0"/>
          </a:p>
          <a:p>
            <a:r>
              <a:rPr lang="en-US" sz="1600" dirty="0"/>
              <a:t>ICD Code: K08109</a:t>
            </a:r>
          </a:p>
          <a:p>
            <a:r>
              <a:rPr lang="en-US" sz="1600" dirty="0"/>
              <a:t>Text Reference: edentulism</a:t>
            </a:r>
          </a:p>
          <a:p>
            <a:endParaRPr lang="en-US" sz="1600" dirty="0"/>
          </a:p>
          <a:p>
            <a:r>
              <a:rPr lang="en-US" sz="1600" dirty="0"/>
              <a:t>Result Samples:</a:t>
            </a:r>
          </a:p>
          <a:p>
            <a:r>
              <a:rPr lang="en-US" sz="1600" dirty="0"/>
              <a:t>BASELINE_R003_GENERATED_TEXT</a:t>
            </a:r>
          </a:p>
          <a:p>
            <a:r>
              <a:rPr lang="en-US" sz="1600" dirty="0"/>
              <a:t>COTSS_R005_GENERATED_TEXT</a:t>
            </a:r>
          </a:p>
          <a:p>
            <a:r>
              <a:rPr lang="en-US" sz="1600" dirty="0"/>
              <a:t>COTKG_R009_GENERATED_TEXT</a:t>
            </a:r>
          </a:p>
          <a:p>
            <a:r>
              <a:rPr lang="en-US" sz="1600" dirty="0"/>
              <a:t>COTSSKG_R006_GENERATED_TEXT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9BEA39-0725-390C-9891-EE45241D1261}"/>
              </a:ext>
            </a:extLst>
          </p:cNvPr>
          <p:cNvSpPr txBox="1"/>
          <p:nvPr/>
        </p:nvSpPr>
        <p:spPr>
          <a:xfrm>
            <a:off x="8180296" y="3163073"/>
            <a:ext cx="3749336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CoT Semantic Search KG exhibit tightly interleaved noun clusters with ground truth, while Baseline shows more dispersed and mismatched noun groupings. </a:t>
            </a:r>
          </a:p>
          <a:p>
            <a:endParaRPr lang="en-US" dirty="0"/>
          </a:p>
          <a:p>
            <a:r>
              <a:rPr lang="en-US" dirty="0"/>
              <a:t>The chosen parameters </a:t>
            </a:r>
            <a:r>
              <a:rPr lang="en-US" b="1" dirty="0" err="1"/>
              <a:t>n_neighbors</a:t>
            </a:r>
            <a:r>
              <a:rPr lang="en-US" b="1" dirty="0"/>
              <a:t> </a:t>
            </a:r>
            <a:r>
              <a:rPr lang="en-US" dirty="0"/>
              <a:t>(</a:t>
            </a:r>
            <a:r>
              <a:rPr lang="en-US" b="1" dirty="0">
                <a:solidFill>
                  <a:schemeClr val="accent1"/>
                </a:solidFill>
              </a:rPr>
              <a:t>6</a:t>
            </a:r>
            <a:r>
              <a:rPr lang="en-US" dirty="0"/>
              <a:t>)  and </a:t>
            </a:r>
            <a:r>
              <a:rPr lang="en-US" b="1" dirty="0" err="1"/>
              <a:t>min_dist</a:t>
            </a:r>
            <a:r>
              <a:rPr lang="en-US" b="1" dirty="0"/>
              <a:t> </a:t>
            </a:r>
            <a:r>
              <a:rPr lang="en-US" dirty="0"/>
              <a:t>(</a:t>
            </a:r>
            <a:r>
              <a:rPr lang="en-US" b="1" dirty="0">
                <a:solidFill>
                  <a:schemeClr val="accent1"/>
                </a:solidFill>
              </a:rPr>
              <a:t>0.3</a:t>
            </a:r>
            <a:r>
              <a:rPr lang="en-US" dirty="0"/>
              <a:t>) effectively highlight lexical and conceptual precision in generated outputs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971D2601-18AE-BBF0-4DCB-962631FD68EF}"/>
              </a:ext>
            </a:extLst>
          </p:cNvPr>
          <p:cNvSpPr/>
          <p:nvPr/>
        </p:nvSpPr>
        <p:spPr>
          <a:xfrm>
            <a:off x="5380517" y="1606859"/>
            <a:ext cx="1296278" cy="1748901"/>
          </a:xfrm>
          <a:prstGeom prst="ellipse">
            <a:avLst/>
          </a:prstGeom>
          <a:solidFill>
            <a:srgbClr val="FFFF00">
              <a:alpha val="14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DEE77E02-9C30-B045-EB47-3142B017BEB6}"/>
              </a:ext>
            </a:extLst>
          </p:cNvPr>
          <p:cNvSpPr/>
          <p:nvPr/>
        </p:nvSpPr>
        <p:spPr>
          <a:xfrm rot="13710097">
            <a:off x="7101957" y="3082927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7C10AD8-FDD0-6D5B-8024-15CB13FC2B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9931" y="160939"/>
            <a:ext cx="3112363" cy="469376"/>
          </a:xfrm>
        </p:spPr>
        <p:txBody>
          <a:bodyPr>
            <a:normAutofit fontScale="90000"/>
          </a:bodyPr>
          <a:lstStyle/>
          <a:p>
            <a:r>
              <a:rPr lang="en-US" sz="3200" dirty="0"/>
              <a:t>Sample #1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DDFEA56-FE22-BA87-2D8C-9095D4DA3C2E}"/>
              </a:ext>
            </a:extLst>
          </p:cNvPr>
          <p:cNvSpPr/>
          <p:nvPr/>
        </p:nvSpPr>
        <p:spPr>
          <a:xfrm>
            <a:off x="3790764" y="1473691"/>
            <a:ext cx="452761" cy="426129"/>
          </a:xfrm>
          <a:prstGeom prst="ellipse">
            <a:avLst/>
          </a:prstGeom>
          <a:solidFill>
            <a:srgbClr val="FFFF00">
              <a:alpha val="14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49605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6B1C51-9532-AF48-92FC-AA7405C558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Heatmap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01B9B4-A25F-5B2D-0F71-3C4FD5133E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For a sentence pair (ground-truth vs. generated):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Extract nouns (or noun phrases) from both sentences.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Embed each noun using a </a:t>
            </a:r>
            <a:r>
              <a:rPr lang="en-US" dirty="0" err="1"/>
              <a:t>SentenceTransformer</a:t>
            </a:r>
            <a:r>
              <a:rPr lang="en-US" dirty="0"/>
              <a:t>:</a:t>
            </a:r>
          </a:p>
          <a:p>
            <a:pPr lvl="2"/>
            <a:r>
              <a:rPr lang="en-US" dirty="0"/>
              <a:t>Model: </a:t>
            </a:r>
            <a:r>
              <a:rPr lang="en-US" dirty="0" err="1"/>
              <a:t>SciBERT</a:t>
            </a:r>
            <a:r>
              <a:rPr lang="en-US" dirty="0"/>
              <a:t> (</a:t>
            </a:r>
            <a:r>
              <a:rPr lang="en-US" dirty="0" err="1"/>
              <a:t>allenai</a:t>
            </a:r>
            <a:r>
              <a:rPr lang="en-US" dirty="0"/>
              <a:t>/</a:t>
            </a:r>
            <a:r>
              <a:rPr lang="en-US" dirty="0" err="1"/>
              <a:t>scibert_scivocab_uncased</a:t>
            </a:r>
            <a:r>
              <a:rPr lang="en-US" dirty="0"/>
              <a:t>)</a:t>
            </a:r>
          </a:p>
          <a:p>
            <a:pPr lvl="2"/>
            <a:r>
              <a:rPr lang="en-US" dirty="0"/>
              <a:t>URL: </a:t>
            </a:r>
            <a:r>
              <a:rPr lang="en-US" dirty="0">
                <a:hlinkClick r:id="rId2"/>
              </a:rPr>
              <a:t>https://huggingface.co/allenai/scibert_scivocab_uncased</a:t>
            </a:r>
            <a:endParaRPr lang="en-US" dirty="0"/>
          </a:p>
          <a:p>
            <a:pPr lvl="2"/>
            <a:r>
              <a:rPr lang="en-US" dirty="0"/>
              <a:t>Details:  Pre-trained BERT model trained on massive corpus of scientific papers from semanticscholar.org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Compute Cosine Similarity Matrix</a:t>
            </a:r>
          </a:p>
          <a:p>
            <a:pPr lvl="2"/>
            <a:r>
              <a:rPr lang="en-US" dirty="0"/>
              <a:t>Encode the nouns (ground-truth and generated text) separately</a:t>
            </a:r>
          </a:p>
          <a:p>
            <a:pPr lvl="2"/>
            <a:r>
              <a:rPr lang="en-US" dirty="0"/>
              <a:t>Compute pairwise cosine similarity (e.g., </a:t>
            </a:r>
            <a:r>
              <a:rPr lang="en-US" dirty="0" err="1"/>
              <a:t>util.cos_sim</a:t>
            </a:r>
            <a:r>
              <a:rPr lang="en-US" dirty="0"/>
              <a:t>) from SBERT</a:t>
            </a:r>
          </a:p>
          <a:p>
            <a:pPr lvl="2"/>
            <a:r>
              <a:rPr lang="en-US" dirty="0"/>
              <a:t>Collect the similarity scores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Plot the Cosine Heatmap (using seaborn)</a:t>
            </a:r>
          </a:p>
          <a:p>
            <a:pPr lvl="2"/>
            <a:r>
              <a:rPr lang="en-US" dirty="0"/>
              <a:t>X-axis – Generated Nouns</a:t>
            </a:r>
          </a:p>
          <a:p>
            <a:pPr lvl="2"/>
            <a:r>
              <a:rPr lang="en-US" dirty="0"/>
              <a:t>Y-axis – Ground-truth Nouns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31526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F89CB5-4BC7-7BE4-4E8E-7CBF06A9B2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DD91EB0-3789-8DCD-7B0F-9A7DE2C53EA8}"/>
              </a:ext>
            </a:extLst>
          </p:cNvPr>
          <p:cNvSpPr txBox="1"/>
          <p:nvPr/>
        </p:nvSpPr>
        <p:spPr>
          <a:xfrm>
            <a:off x="1356862" y="6173788"/>
            <a:ext cx="1043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Baseline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3E12CCA-5CEF-B617-995F-0E729B46F06F}"/>
              </a:ext>
            </a:extLst>
          </p:cNvPr>
          <p:cNvSpPr txBox="1"/>
          <p:nvPr/>
        </p:nvSpPr>
        <p:spPr>
          <a:xfrm>
            <a:off x="3776294" y="6173788"/>
            <a:ext cx="23046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CoT Semantic Search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7C8F8B0-27B2-B71D-D7DD-D165C0795B2C}"/>
              </a:ext>
            </a:extLst>
          </p:cNvPr>
          <p:cNvSpPr txBox="1"/>
          <p:nvPr/>
        </p:nvSpPr>
        <p:spPr>
          <a:xfrm>
            <a:off x="7039073" y="6173788"/>
            <a:ext cx="8965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CoT KG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3131C6A-49AD-B23E-4617-821975654BF9}"/>
              </a:ext>
            </a:extLst>
          </p:cNvPr>
          <p:cNvSpPr txBox="1"/>
          <p:nvPr/>
        </p:nvSpPr>
        <p:spPr>
          <a:xfrm>
            <a:off x="9363017" y="6171189"/>
            <a:ext cx="12027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CoT KG SS</a:t>
            </a:r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6C8EB33C-DE18-B78C-6395-A6F4BD8BF2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158" y="2595701"/>
            <a:ext cx="2507480" cy="36707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6" name="Picture 4">
            <a:extLst>
              <a:ext uri="{FF2B5EF4-FFF2-40B4-BE49-F238E27FC236}">
                <a16:creationId xmlns:a16="http://schemas.microsoft.com/office/drawing/2014/main" id="{DCF0C180-8851-7E58-360A-0EB3EF36AC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7568" y="2595701"/>
            <a:ext cx="3091228" cy="36707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8" name="Picture 6">
            <a:extLst>
              <a:ext uri="{FF2B5EF4-FFF2-40B4-BE49-F238E27FC236}">
                <a16:creationId xmlns:a16="http://schemas.microsoft.com/office/drawing/2014/main" id="{9AAF7B83-570C-B490-E55E-F7DD81B5E4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33807" y="2595701"/>
            <a:ext cx="1707058" cy="36707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00" name="Picture 8">
            <a:extLst>
              <a:ext uri="{FF2B5EF4-FFF2-40B4-BE49-F238E27FC236}">
                <a16:creationId xmlns:a16="http://schemas.microsoft.com/office/drawing/2014/main" id="{8F1470C2-205E-AF01-4311-01511F29F1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27178" y="2595701"/>
            <a:ext cx="2507480" cy="36707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B02DD8D-E6A1-0E35-BB43-D9CFD5BB2A76}"/>
              </a:ext>
            </a:extLst>
          </p:cNvPr>
          <p:cNvSpPr txBox="1"/>
          <p:nvPr/>
        </p:nvSpPr>
        <p:spPr>
          <a:xfrm>
            <a:off x="2680640" y="160939"/>
            <a:ext cx="356924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Clinical Case B: </a:t>
            </a:r>
          </a:p>
          <a:p>
            <a:endParaRPr lang="en-US" sz="1600" dirty="0"/>
          </a:p>
          <a:p>
            <a:r>
              <a:rPr lang="en-US" sz="1600" dirty="0"/>
              <a:t>ICD Code: K08109</a:t>
            </a:r>
          </a:p>
          <a:p>
            <a:r>
              <a:rPr lang="en-US" sz="1600" dirty="0"/>
              <a:t>Text Reference: edentulism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CCEA6D-4D66-E697-A359-65BA012F0C58}"/>
              </a:ext>
            </a:extLst>
          </p:cNvPr>
          <p:cNvSpPr txBox="1"/>
          <p:nvPr/>
        </p:nvSpPr>
        <p:spPr>
          <a:xfrm>
            <a:off x="6080964" y="116308"/>
            <a:ext cx="609452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Result Samples:</a:t>
            </a:r>
          </a:p>
          <a:p>
            <a:r>
              <a:rPr lang="en-US" sz="1800" dirty="0"/>
              <a:t>BASELINE_R003_GENERATED_TEXT</a:t>
            </a:r>
          </a:p>
          <a:p>
            <a:r>
              <a:rPr lang="en-US" sz="1800" dirty="0"/>
              <a:t>COTSS_R005_GENERATED_TEXT</a:t>
            </a:r>
          </a:p>
          <a:p>
            <a:r>
              <a:rPr lang="en-US" sz="1800" dirty="0"/>
              <a:t>COTKG_R009_GENERATED_TEXT</a:t>
            </a:r>
          </a:p>
          <a:p>
            <a:r>
              <a:rPr lang="en-US" sz="1800" dirty="0"/>
              <a:t>COTSSKG_R006_GENERATED_TEXT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C093A66E-67F2-334F-3C35-8DFDD89DDB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9931" y="160939"/>
            <a:ext cx="3112363" cy="469376"/>
          </a:xfrm>
        </p:spPr>
        <p:txBody>
          <a:bodyPr>
            <a:normAutofit fontScale="90000"/>
          </a:bodyPr>
          <a:lstStyle/>
          <a:p>
            <a:r>
              <a:rPr lang="en-US" sz="3200" dirty="0"/>
              <a:t>Sample #1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F6E75014-D710-65E2-6214-CE886E1C1C05}"/>
              </a:ext>
            </a:extLst>
          </p:cNvPr>
          <p:cNvSpPr/>
          <p:nvPr/>
        </p:nvSpPr>
        <p:spPr>
          <a:xfrm rot="6531658" flipV="1">
            <a:off x="783843" y="2206991"/>
            <a:ext cx="390777" cy="30804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308AF63-4C26-00B3-4011-E9DA114B8152}"/>
              </a:ext>
            </a:extLst>
          </p:cNvPr>
          <p:cNvSpPr txBox="1"/>
          <p:nvPr/>
        </p:nvSpPr>
        <p:spPr>
          <a:xfrm>
            <a:off x="1188147" y="1803157"/>
            <a:ext cx="109959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/>
              <a:t>Year,</a:t>
            </a:r>
            <a:endParaRPr lang="en-US" sz="1800" dirty="0"/>
          </a:p>
          <a:p>
            <a:r>
              <a:rPr lang="en-US" dirty="0"/>
              <a:t>Patient</a:t>
            </a:r>
            <a:endParaRPr lang="en-US" sz="1800" dirty="0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9781903F-0867-7103-B28C-4E40A7E010BE}"/>
              </a:ext>
            </a:extLst>
          </p:cNvPr>
          <p:cNvSpPr/>
          <p:nvPr/>
        </p:nvSpPr>
        <p:spPr>
          <a:xfrm rot="6531658" flipV="1">
            <a:off x="3953961" y="2441679"/>
            <a:ext cx="390777" cy="30804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BC75DAF-B653-EF2F-354D-4D0EF8076EF2}"/>
              </a:ext>
            </a:extLst>
          </p:cNvPr>
          <p:cNvSpPr txBox="1"/>
          <p:nvPr/>
        </p:nvSpPr>
        <p:spPr>
          <a:xfrm>
            <a:off x="3940434" y="1951824"/>
            <a:ext cx="15202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Edentulism</a:t>
            </a:r>
          </a:p>
        </p:txBody>
      </p:sp>
    </p:spTree>
    <p:extLst>
      <p:ext uri="{BB962C8B-B14F-4D97-AF65-F5344CB8AC3E}">
        <p14:creationId xmlns:p14="http://schemas.microsoft.com/office/powerpoint/2010/main" val="12056031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>
            <a:extLst>
              <a:ext uri="{FF2B5EF4-FFF2-40B4-BE49-F238E27FC236}">
                <a16:creationId xmlns:a16="http://schemas.microsoft.com/office/drawing/2014/main" id="{89A7652E-1352-49D9-C956-97E70F3EF4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1050" y="204185"/>
            <a:ext cx="6844477" cy="81275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97610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33828EC-2304-FDB8-1039-4FC75B18F81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Backup Slides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CD5C4794-244A-A116-380C-B1861D3DB76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60783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2809A2-35BC-F68C-80E4-679F4B3971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F80A04D-07CF-0EFD-491E-0AC4F8CF9DD7}"/>
              </a:ext>
            </a:extLst>
          </p:cNvPr>
          <p:cNvSpPr txBox="1"/>
          <p:nvPr/>
        </p:nvSpPr>
        <p:spPr>
          <a:xfrm>
            <a:off x="8647230" y="438315"/>
            <a:ext cx="3411604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Clinical Case B: </a:t>
            </a:r>
          </a:p>
          <a:p>
            <a:endParaRPr lang="en-US" sz="1600" dirty="0"/>
          </a:p>
          <a:p>
            <a:r>
              <a:rPr lang="en-US" sz="1600" dirty="0"/>
              <a:t>ICD Code: K08109</a:t>
            </a:r>
          </a:p>
          <a:p>
            <a:r>
              <a:rPr lang="en-US" sz="1600" dirty="0"/>
              <a:t>Text Reference: edentulism</a:t>
            </a:r>
          </a:p>
          <a:p>
            <a:endParaRPr lang="en-US" sz="1600" dirty="0"/>
          </a:p>
          <a:p>
            <a:r>
              <a:rPr lang="en-US" sz="1600" dirty="0"/>
              <a:t>Result Samples:</a:t>
            </a:r>
          </a:p>
          <a:p>
            <a:r>
              <a:rPr lang="en-US" sz="1600" dirty="0"/>
              <a:t>BASELINE_R041_GENERATED_TEXT</a:t>
            </a:r>
          </a:p>
          <a:p>
            <a:r>
              <a:rPr lang="en-US" sz="1600" dirty="0"/>
              <a:t>COTSS_R044_GENERATED_TEXT</a:t>
            </a:r>
          </a:p>
          <a:p>
            <a:r>
              <a:rPr lang="en-US" sz="1600" dirty="0"/>
              <a:t>COTKG_R028_GENERATED_TEXT</a:t>
            </a:r>
          </a:p>
          <a:p>
            <a:r>
              <a:rPr lang="en-US" sz="1600" dirty="0"/>
              <a:t>COTSSKG_R033_GENERATED_TEXT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CC46982-B216-3221-FC8C-80224C59F4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5068"/>
            <a:ext cx="7288567" cy="5902932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DD397F83-7125-F2C9-0D6B-D3A7E5D4FE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9931" y="160939"/>
            <a:ext cx="3112363" cy="469376"/>
          </a:xfrm>
        </p:spPr>
        <p:txBody>
          <a:bodyPr>
            <a:normAutofit fontScale="90000"/>
          </a:bodyPr>
          <a:lstStyle/>
          <a:p>
            <a:r>
              <a:rPr lang="en-US" sz="3200" dirty="0"/>
              <a:t>Sample #2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D847A2-8B18-A22F-DACA-011BB832F4FB}"/>
              </a:ext>
            </a:extLst>
          </p:cNvPr>
          <p:cNvSpPr txBox="1"/>
          <p:nvPr/>
        </p:nvSpPr>
        <p:spPr>
          <a:xfrm>
            <a:off x="8180296" y="3163073"/>
            <a:ext cx="3749336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CoT Semantic Search KG exhibit tightly interleaved noun clusters with ground truth, while Baseline shows more dispersed and mismatched noun groupings. </a:t>
            </a:r>
          </a:p>
          <a:p>
            <a:endParaRPr lang="en-US" dirty="0"/>
          </a:p>
          <a:p>
            <a:r>
              <a:rPr lang="en-US" dirty="0"/>
              <a:t>The chosen parameters </a:t>
            </a:r>
            <a:r>
              <a:rPr lang="en-US" b="1" dirty="0" err="1"/>
              <a:t>n_neighbors</a:t>
            </a:r>
            <a:r>
              <a:rPr lang="en-US" b="1" dirty="0"/>
              <a:t> </a:t>
            </a:r>
            <a:r>
              <a:rPr lang="en-US" dirty="0"/>
              <a:t>(</a:t>
            </a:r>
            <a:r>
              <a:rPr lang="en-US" b="1" dirty="0">
                <a:solidFill>
                  <a:schemeClr val="accent1"/>
                </a:solidFill>
              </a:rPr>
              <a:t>6</a:t>
            </a:r>
            <a:r>
              <a:rPr lang="en-US" dirty="0"/>
              <a:t>)  and </a:t>
            </a:r>
            <a:r>
              <a:rPr lang="en-US" b="1" dirty="0" err="1"/>
              <a:t>min_dist</a:t>
            </a:r>
            <a:r>
              <a:rPr lang="en-US" b="1" dirty="0"/>
              <a:t> </a:t>
            </a:r>
            <a:r>
              <a:rPr lang="en-US" dirty="0"/>
              <a:t>(</a:t>
            </a:r>
            <a:r>
              <a:rPr lang="en-US" b="1" dirty="0">
                <a:solidFill>
                  <a:schemeClr val="accent1"/>
                </a:solidFill>
              </a:rPr>
              <a:t>0.3</a:t>
            </a:r>
            <a:r>
              <a:rPr lang="en-US" dirty="0"/>
              <a:t>) effectively highlight lexical and conceptual precision in generated outputs</a:t>
            </a: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3A7D057F-E30B-09F0-121D-88AED96C64C1}"/>
              </a:ext>
            </a:extLst>
          </p:cNvPr>
          <p:cNvSpPr/>
          <p:nvPr/>
        </p:nvSpPr>
        <p:spPr>
          <a:xfrm rot="12263477">
            <a:off x="6933085" y="3173258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8FC5B56-1C02-B937-AE36-285E575DBAC4}"/>
              </a:ext>
            </a:extLst>
          </p:cNvPr>
          <p:cNvSpPr/>
          <p:nvPr/>
        </p:nvSpPr>
        <p:spPr>
          <a:xfrm>
            <a:off x="3586579" y="1589103"/>
            <a:ext cx="1837677" cy="1839896"/>
          </a:xfrm>
          <a:prstGeom prst="ellipse">
            <a:avLst/>
          </a:prstGeom>
          <a:solidFill>
            <a:srgbClr val="FFFF00">
              <a:alpha val="14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7061F52-C078-C727-62A6-4437239C2239}"/>
              </a:ext>
            </a:extLst>
          </p:cNvPr>
          <p:cNvSpPr/>
          <p:nvPr/>
        </p:nvSpPr>
        <p:spPr>
          <a:xfrm>
            <a:off x="5803037" y="1491449"/>
            <a:ext cx="585926" cy="568170"/>
          </a:xfrm>
          <a:prstGeom prst="ellipse">
            <a:avLst/>
          </a:prstGeom>
          <a:solidFill>
            <a:srgbClr val="FFFF00">
              <a:alpha val="14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79236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AAB3C7-DAA1-B436-ECB7-2760131F1C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D779806-32BC-9ACB-FDAC-9C148B9B0887}"/>
              </a:ext>
            </a:extLst>
          </p:cNvPr>
          <p:cNvSpPr txBox="1"/>
          <p:nvPr/>
        </p:nvSpPr>
        <p:spPr>
          <a:xfrm>
            <a:off x="1010049" y="6227840"/>
            <a:ext cx="1043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Baseline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945EDF-ADB4-9D76-C4A2-403233CCE7AE}"/>
              </a:ext>
            </a:extLst>
          </p:cNvPr>
          <p:cNvSpPr txBox="1"/>
          <p:nvPr/>
        </p:nvSpPr>
        <p:spPr>
          <a:xfrm>
            <a:off x="3508992" y="6227840"/>
            <a:ext cx="23046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CoT Semantic Search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A7F80F-3E7D-546F-56FE-2C08D0A2A04A}"/>
              </a:ext>
            </a:extLst>
          </p:cNvPr>
          <p:cNvSpPr txBox="1"/>
          <p:nvPr/>
        </p:nvSpPr>
        <p:spPr>
          <a:xfrm>
            <a:off x="7328364" y="6227840"/>
            <a:ext cx="8965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CoT KG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3D3D55-BA02-F1BB-9964-D8ABCF74920D}"/>
              </a:ext>
            </a:extLst>
          </p:cNvPr>
          <p:cNvSpPr txBox="1"/>
          <p:nvPr/>
        </p:nvSpPr>
        <p:spPr>
          <a:xfrm>
            <a:off x="9452753" y="6227840"/>
            <a:ext cx="12027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CoT KG SS</a:t>
            </a:r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A55D5C5D-A95E-18DA-C232-1500640DBE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9931" y="2411214"/>
            <a:ext cx="2304111" cy="38166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0" name="Picture 4">
            <a:extLst>
              <a:ext uri="{FF2B5EF4-FFF2-40B4-BE49-F238E27FC236}">
                <a16:creationId xmlns:a16="http://schemas.microsoft.com/office/drawing/2014/main" id="{F6D70F1D-6D55-FF79-F13B-5A90D72470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7226" y="2411214"/>
            <a:ext cx="3668202" cy="38166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2" name="Picture 6">
            <a:extLst>
              <a:ext uri="{FF2B5EF4-FFF2-40B4-BE49-F238E27FC236}">
                <a16:creationId xmlns:a16="http://schemas.microsoft.com/office/drawing/2014/main" id="{97C62E87-2E91-5EDA-F17C-7C00125936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2217" y="2411214"/>
            <a:ext cx="1925983" cy="38166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4" name="Picture 8">
            <a:extLst>
              <a:ext uri="{FF2B5EF4-FFF2-40B4-BE49-F238E27FC236}">
                <a16:creationId xmlns:a16="http://schemas.microsoft.com/office/drawing/2014/main" id="{135CABD3-1853-87B8-4E80-84BB87F8F7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40480" y="2411214"/>
            <a:ext cx="2227248" cy="38166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B3201EF4-3B00-B7DC-8828-54FD579B25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9931" y="160939"/>
            <a:ext cx="3112363" cy="469376"/>
          </a:xfrm>
        </p:spPr>
        <p:txBody>
          <a:bodyPr>
            <a:normAutofit fontScale="90000"/>
          </a:bodyPr>
          <a:lstStyle/>
          <a:p>
            <a:r>
              <a:rPr lang="en-US" sz="3200" dirty="0"/>
              <a:t>Sample #2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BD92953-C5AA-7BEA-E349-E5F88085F4BD}"/>
              </a:ext>
            </a:extLst>
          </p:cNvPr>
          <p:cNvSpPr txBox="1"/>
          <p:nvPr/>
        </p:nvSpPr>
        <p:spPr>
          <a:xfrm>
            <a:off x="2680640" y="160939"/>
            <a:ext cx="356924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Clinical Case B: </a:t>
            </a:r>
          </a:p>
          <a:p>
            <a:endParaRPr lang="en-US" sz="1600" dirty="0"/>
          </a:p>
          <a:p>
            <a:r>
              <a:rPr lang="en-US" sz="1600" dirty="0"/>
              <a:t>ICD Code: K08109</a:t>
            </a:r>
          </a:p>
          <a:p>
            <a:r>
              <a:rPr lang="en-US" sz="1600" dirty="0"/>
              <a:t>Text Reference: edentulism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025AB3C-B0D9-AD4F-4799-4B11529B2700}"/>
              </a:ext>
            </a:extLst>
          </p:cNvPr>
          <p:cNvSpPr txBox="1"/>
          <p:nvPr/>
        </p:nvSpPr>
        <p:spPr>
          <a:xfrm>
            <a:off x="5652448" y="82520"/>
            <a:ext cx="609452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Result Samples:</a:t>
            </a:r>
          </a:p>
          <a:p>
            <a:r>
              <a:rPr lang="en-US" sz="1800" dirty="0"/>
              <a:t>BASELINE_R041_GENERATED_TEXT</a:t>
            </a:r>
          </a:p>
          <a:p>
            <a:r>
              <a:rPr lang="en-US" sz="1800" dirty="0"/>
              <a:t>COTSS_R044_GENERATED_TEXT</a:t>
            </a:r>
          </a:p>
          <a:p>
            <a:r>
              <a:rPr lang="en-US" sz="1800" dirty="0"/>
              <a:t>COTKG_R028_GENERATED_TEXT</a:t>
            </a:r>
          </a:p>
          <a:p>
            <a:r>
              <a:rPr lang="en-US" sz="1800" dirty="0"/>
              <a:t>COTSSKG_R033_GENERATED_TEXT</a:t>
            </a:r>
          </a:p>
        </p:txBody>
      </p:sp>
    </p:spTree>
    <p:extLst>
      <p:ext uri="{BB962C8B-B14F-4D97-AF65-F5344CB8AC3E}">
        <p14:creationId xmlns:p14="http://schemas.microsoft.com/office/powerpoint/2010/main" val="19147969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7C366A-BD1E-A8D9-482C-3D0F362134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ADA7D66-5171-A412-5A6F-0FF2ED7C13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39" y="939632"/>
            <a:ext cx="7424747" cy="591836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3DC2A9E-E314-681A-5876-6FA5E4EAAD37}"/>
              </a:ext>
            </a:extLst>
          </p:cNvPr>
          <p:cNvSpPr txBox="1"/>
          <p:nvPr/>
        </p:nvSpPr>
        <p:spPr>
          <a:xfrm>
            <a:off x="8830091" y="447193"/>
            <a:ext cx="3361909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Clinical Case B: </a:t>
            </a:r>
          </a:p>
          <a:p>
            <a:endParaRPr lang="en-US" sz="1600" dirty="0"/>
          </a:p>
          <a:p>
            <a:r>
              <a:rPr lang="en-US" sz="1600" dirty="0"/>
              <a:t>ICD Code: K08109</a:t>
            </a:r>
          </a:p>
          <a:p>
            <a:r>
              <a:rPr lang="en-US" sz="1600" dirty="0"/>
              <a:t>Text Reference: edentulism</a:t>
            </a:r>
          </a:p>
          <a:p>
            <a:endParaRPr lang="en-US" sz="1600" dirty="0"/>
          </a:p>
          <a:p>
            <a:r>
              <a:rPr lang="en-US" sz="1600" dirty="0"/>
              <a:t>Result Samples:</a:t>
            </a:r>
          </a:p>
          <a:p>
            <a:r>
              <a:rPr lang="en-US" sz="1600" dirty="0"/>
              <a:t>BASELINE_R068_GENERATED_TEXT</a:t>
            </a:r>
          </a:p>
          <a:p>
            <a:r>
              <a:rPr lang="en-US" sz="1600" dirty="0"/>
              <a:t>COTSS_R057_GENERATED_TEXT</a:t>
            </a:r>
          </a:p>
          <a:p>
            <a:r>
              <a:rPr lang="en-US" sz="1600" dirty="0"/>
              <a:t>COTKG_R042_GENERATED_TEXT</a:t>
            </a:r>
          </a:p>
          <a:p>
            <a:r>
              <a:rPr lang="en-US" sz="1600" dirty="0"/>
              <a:t>COTSSKG_R051_GENERATED_TEXT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EF00CC9C-6660-05A0-E0FA-CB37503220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9931" y="160939"/>
            <a:ext cx="3112363" cy="469376"/>
          </a:xfrm>
        </p:spPr>
        <p:txBody>
          <a:bodyPr>
            <a:normAutofit fontScale="90000"/>
          </a:bodyPr>
          <a:lstStyle/>
          <a:p>
            <a:r>
              <a:rPr lang="en-US" sz="3200" dirty="0"/>
              <a:t>Sample #3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AD9C8E-55ED-DB40-7C50-BC0E63D56212}"/>
              </a:ext>
            </a:extLst>
          </p:cNvPr>
          <p:cNvSpPr txBox="1"/>
          <p:nvPr/>
        </p:nvSpPr>
        <p:spPr>
          <a:xfrm>
            <a:off x="8180296" y="3163073"/>
            <a:ext cx="3749336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CoT Semantic Search KG exhibit tightly interleaved noun clusters with ground truth, while Baseline shows more dispersed and mismatched noun groupings. </a:t>
            </a:r>
          </a:p>
          <a:p>
            <a:endParaRPr lang="en-US" dirty="0"/>
          </a:p>
          <a:p>
            <a:r>
              <a:rPr lang="en-US" dirty="0"/>
              <a:t>The chosen parameters </a:t>
            </a:r>
            <a:r>
              <a:rPr lang="en-US" b="1" dirty="0" err="1"/>
              <a:t>n_neighbors</a:t>
            </a:r>
            <a:r>
              <a:rPr lang="en-US" b="1" dirty="0"/>
              <a:t> </a:t>
            </a:r>
            <a:r>
              <a:rPr lang="en-US" dirty="0"/>
              <a:t>(</a:t>
            </a:r>
            <a:r>
              <a:rPr lang="en-US" b="1" dirty="0">
                <a:solidFill>
                  <a:schemeClr val="accent1"/>
                </a:solidFill>
              </a:rPr>
              <a:t>6</a:t>
            </a:r>
            <a:r>
              <a:rPr lang="en-US" dirty="0"/>
              <a:t>)  and </a:t>
            </a:r>
            <a:r>
              <a:rPr lang="en-US" b="1" dirty="0" err="1"/>
              <a:t>min_dist</a:t>
            </a:r>
            <a:r>
              <a:rPr lang="en-US" b="1" dirty="0"/>
              <a:t> </a:t>
            </a:r>
            <a:r>
              <a:rPr lang="en-US" dirty="0"/>
              <a:t>(</a:t>
            </a:r>
            <a:r>
              <a:rPr lang="en-US" b="1" dirty="0">
                <a:solidFill>
                  <a:schemeClr val="accent1"/>
                </a:solidFill>
              </a:rPr>
              <a:t>0.3</a:t>
            </a:r>
            <a:r>
              <a:rPr lang="en-US" dirty="0"/>
              <a:t>) effectively highlight lexical and conceptual precision in generated outputs</a:t>
            </a: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2FD9D462-3C48-324D-223B-E2975A9541C5}"/>
              </a:ext>
            </a:extLst>
          </p:cNvPr>
          <p:cNvSpPr/>
          <p:nvPr/>
        </p:nvSpPr>
        <p:spPr>
          <a:xfrm rot="11988343">
            <a:off x="6924403" y="3262760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BFB1F0E-41F0-C5D7-7907-4C1FF69FC57F}"/>
              </a:ext>
            </a:extLst>
          </p:cNvPr>
          <p:cNvSpPr/>
          <p:nvPr/>
        </p:nvSpPr>
        <p:spPr>
          <a:xfrm>
            <a:off x="5977412" y="2950008"/>
            <a:ext cx="452761" cy="426129"/>
          </a:xfrm>
          <a:prstGeom prst="ellipse">
            <a:avLst/>
          </a:prstGeom>
          <a:solidFill>
            <a:srgbClr val="FFFF00">
              <a:alpha val="14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F82D8B2-3FF3-07BD-20BF-06E8A33CC7AB}"/>
              </a:ext>
            </a:extLst>
          </p:cNvPr>
          <p:cNvSpPr/>
          <p:nvPr/>
        </p:nvSpPr>
        <p:spPr>
          <a:xfrm>
            <a:off x="3728621" y="1511400"/>
            <a:ext cx="1331651" cy="1864737"/>
          </a:xfrm>
          <a:prstGeom prst="ellipse">
            <a:avLst/>
          </a:prstGeom>
          <a:solidFill>
            <a:srgbClr val="FFFF00">
              <a:alpha val="14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28544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8A4515-C3F6-AFAF-3B17-1EE3FF5D14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8DFADF3-F239-6DEB-59CE-AB9CD7124E09}"/>
              </a:ext>
            </a:extLst>
          </p:cNvPr>
          <p:cNvSpPr txBox="1"/>
          <p:nvPr/>
        </p:nvSpPr>
        <p:spPr>
          <a:xfrm>
            <a:off x="951934" y="6327729"/>
            <a:ext cx="1043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Baseline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E4E790E-321A-70C2-04D5-BF5EE7E34AF4}"/>
              </a:ext>
            </a:extLst>
          </p:cNvPr>
          <p:cNvSpPr txBox="1"/>
          <p:nvPr/>
        </p:nvSpPr>
        <p:spPr>
          <a:xfrm>
            <a:off x="3997529" y="6327729"/>
            <a:ext cx="23046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CoT Semantic Search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9B6B327-0E05-04AF-9BD1-F6116C2B10C1}"/>
              </a:ext>
            </a:extLst>
          </p:cNvPr>
          <p:cNvSpPr txBox="1"/>
          <p:nvPr/>
        </p:nvSpPr>
        <p:spPr>
          <a:xfrm>
            <a:off x="8125016" y="6327729"/>
            <a:ext cx="8965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CoT KG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F8DF04-1E29-26FE-A46F-EEA81DE06A02}"/>
              </a:ext>
            </a:extLst>
          </p:cNvPr>
          <p:cNvSpPr txBox="1"/>
          <p:nvPr/>
        </p:nvSpPr>
        <p:spPr>
          <a:xfrm>
            <a:off x="10166727" y="6327729"/>
            <a:ext cx="12027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CoT KG SS</a:t>
            </a:r>
          </a:p>
        </p:txBody>
      </p:sp>
      <p:pic>
        <p:nvPicPr>
          <p:cNvPr id="10242" name="Picture 2">
            <a:extLst>
              <a:ext uri="{FF2B5EF4-FFF2-40B4-BE49-F238E27FC236}">
                <a16:creationId xmlns:a16="http://schemas.microsoft.com/office/drawing/2014/main" id="{38A7E025-B77C-FE46-4EAC-6B644438B0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301" y="2083308"/>
            <a:ext cx="2227339" cy="42444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4" name="Picture 4">
            <a:extLst>
              <a:ext uri="{FF2B5EF4-FFF2-40B4-BE49-F238E27FC236}">
                <a16:creationId xmlns:a16="http://schemas.microsoft.com/office/drawing/2014/main" id="{BFF27AF3-6408-04A0-9BF1-048B6A721D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7700" y="2083308"/>
            <a:ext cx="4583385" cy="42444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6" name="Picture 6">
            <a:extLst>
              <a:ext uri="{FF2B5EF4-FFF2-40B4-BE49-F238E27FC236}">
                <a16:creationId xmlns:a16="http://schemas.microsoft.com/office/drawing/2014/main" id="{251060DB-3EEE-D65A-C2CC-84ADCAA5C2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78145" y="2083308"/>
            <a:ext cx="1975818" cy="42444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8" name="Picture 8">
            <a:extLst>
              <a:ext uri="{FF2B5EF4-FFF2-40B4-BE49-F238E27FC236}">
                <a16:creationId xmlns:a16="http://schemas.microsoft.com/office/drawing/2014/main" id="{3F75ED5B-4990-38B0-EE47-11C124B889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8907" y="2083308"/>
            <a:ext cx="2056382" cy="42444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57852886-DF8F-FAA1-5F0B-437369033B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9931" y="160939"/>
            <a:ext cx="3112363" cy="469376"/>
          </a:xfrm>
        </p:spPr>
        <p:txBody>
          <a:bodyPr>
            <a:normAutofit fontScale="90000"/>
          </a:bodyPr>
          <a:lstStyle/>
          <a:p>
            <a:r>
              <a:rPr lang="en-US" sz="3200" dirty="0"/>
              <a:t>Sample #3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E1D0A31-CE68-BFF6-0795-91AAC4A34910}"/>
              </a:ext>
            </a:extLst>
          </p:cNvPr>
          <p:cNvSpPr txBox="1"/>
          <p:nvPr/>
        </p:nvSpPr>
        <p:spPr>
          <a:xfrm>
            <a:off x="2680640" y="160939"/>
            <a:ext cx="356924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Clinical Case B: </a:t>
            </a:r>
          </a:p>
          <a:p>
            <a:endParaRPr lang="en-US" sz="1600" dirty="0"/>
          </a:p>
          <a:p>
            <a:r>
              <a:rPr lang="en-US" sz="1600" dirty="0"/>
              <a:t>ICD Code: K08109</a:t>
            </a:r>
          </a:p>
          <a:p>
            <a:r>
              <a:rPr lang="en-US" sz="1600" dirty="0"/>
              <a:t>Text Reference: edentulism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633117E-B99F-8D08-8AD4-8E3D980F60D6}"/>
              </a:ext>
            </a:extLst>
          </p:cNvPr>
          <p:cNvSpPr txBox="1"/>
          <p:nvPr/>
        </p:nvSpPr>
        <p:spPr>
          <a:xfrm>
            <a:off x="5979717" y="69048"/>
            <a:ext cx="609452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Result Samples:</a:t>
            </a:r>
          </a:p>
          <a:p>
            <a:r>
              <a:rPr lang="en-US" sz="1800" dirty="0"/>
              <a:t>BASELINE_R068_GENERATED_TEXT</a:t>
            </a:r>
          </a:p>
          <a:p>
            <a:r>
              <a:rPr lang="en-US" sz="1800" dirty="0"/>
              <a:t>COTSS_R057_GENERATED_TEXT</a:t>
            </a:r>
          </a:p>
          <a:p>
            <a:r>
              <a:rPr lang="en-US" sz="1800" dirty="0"/>
              <a:t>COTKG_R042_GENERATED_TEXT</a:t>
            </a:r>
          </a:p>
          <a:p>
            <a:r>
              <a:rPr lang="en-US" sz="1800" dirty="0"/>
              <a:t>COTSSKG_R051_GENERATED_TEXT</a:t>
            </a:r>
          </a:p>
        </p:txBody>
      </p:sp>
    </p:spTree>
    <p:extLst>
      <p:ext uri="{BB962C8B-B14F-4D97-AF65-F5344CB8AC3E}">
        <p14:creationId xmlns:p14="http://schemas.microsoft.com/office/powerpoint/2010/main" val="32685361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25B33B-167E-1438-1F0D-953EF678FA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C0B513A-6B6E-93F0-8D52-BEEC52BA4B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03126"/>
            <a:ext cx="7599285" cy="605487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36A2031-ED4C-D510-B79C-3A7317F0F978}"/>
              </a:ext>
            </a:extLst>
          </p:cNvPr>
          <p:cNvSpPr txBox="1"/>
          <p:nvPr/>
        </p:nvSpPr>
        <p:spPr>
          <a:xfrm>
            <a:off x="8800274" y="438315"/>
            <a:ext cx="3391726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Clinical Case B: </a:t>
            </a:r>
          </a:p>
          <a:p>
            <a:endParaRPr lang="en-US" sz="1600" dirty="0"/>
          </a:p>
          <a:p>
            <a:r>
              <a:rPr lang="en-US" sz="1600" dirty="0"/>
              <a:t>ICD Code: K08109</a:t>
            </a:r>
          </a:p>
          <a:p>
            <a:r>
              <a:rPr lang="en-US" sz="1600" dirty="0"/>
              <a:t>Text Reference: edentulism</a:t>
            </a:r>
          </a:p>
          <a:p>
            <a:endParaRPr lang="en-US" sz="1600" dirty="0"/>
          </a:p>
          <a:p>
            <a:r>
              <a:rPr lang="en-US" sz="1600" dirty="0"/>
              <a:t>Result Samples:</a:t>
            </a:r>
          </a:p>
          <a:p>
            <a:r>
              <a:rPr lang="en-US" sz="1600" dirty="0"/>
              <a:t>BASELINE_R088_GENERATED_TEXT</a:t>
            </a:r>
          </a:p>
          <a:p>
            <a:r>
              <a:rPr lang="en-US" sz="1600" dirty="0"/>
              <a:t>COTSS_R074_GENERATED_TEXT</a:t>
            </a:r>
          </a:p>
          <a:p>
            <a:r>
              <a:rPr lang="en-US" sz="1600" dirty="0"/>
              <a:t>COTKG_R069_GENERATED_TEXT</a:t>
            </a:r>
          </a:p>
          <a:p>
            <a:r>
              <a:rPr lang="en-US" sz="1600" dirty="0"/>
              <a:t>COTSSKG_R065_GENERATED_TEXT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97043477-ECCB-B2E2-AAAC-D06BF02E85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9931" y="160939"/>
            <a:ext cx="3112363" cy="469376"/>
          </a:xfrm>
        </p:spPr>
        <p:txBody>
          <a:bodyPr>
            <a:normAutofit fontScale="90000"/>
          </a:bodyPr>
          <a:lstStyle/>
          <a:p>
            <a:r>
              <a:rPr lang="en-US" sz="3200" dirty="0"/>
              <a:t>Sample #4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90BE02A-E578-B60D-C55D-68D2D811B9D1}"/>
              </a:ext>
            </a:extLst>
          </p:cNvPr>
          <p:cNvSpPr txBox="1"/>
          <p:nvPr/>
        </p:nvSpPr>
        <p:spPr>
          <a:xfrm>
            <a:off x="8180296" y="3163073"/>
            <a:ext cx="3749336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CoT Semantic Search KG exhibit tightly interleaved noun clusters with ground truth, while Baseline shows more dispersed and mismatched noun groupings. </a:t>
            </a:r>
          </a:p>
          <a:p>
            <a:endParaRPr lang="en-US" dirty="0"/>
          </a:p>
          <a:p>
            <a:r>
              <a:rPr lang="en-US" dirty="0"/>
              <a:t>The chosen parameters </a:t>
            </a:r>
            <a:r>
              <a:rPr lang="en-US" b="1" dirty="0" err="1"/>
              <a:t>n_neighbors</a:t>
            </a:r>
            <a:r>
              <a:rPr lang="en-US" b="1" dirty="0"/>
              <a:t> </a:t>
            </a:r>
            <a:r>
              <a:rPr lang="en-US" dirty="0"/>
              <a:t>(</a:t>
            </a:r>
            <a:r>
              <a:rPr lang="en-US" b="1" dirty="0">
                <a:solidFill>
                  <a:schemeClr val="accent1"/>
                </a:solidFill>
              </a:rPr>
              <a:t>6</a:t>
            </a:r>
            <a:r>
              <a:rPr lang="en-US" dirty="0"/>
              <a:t>)  and </a:t>
            </a:r>
            <a:r>
              <a:rPr lang="en-US" b="1" dirty="0" err="1"/>
              <a:t>min_dist</a:t>
            </a:r>
            <a:r>
              <a:rPr lang="en-US" b="1" dirty="0"/>
              <a:t> </a:t>
            </a:r>
            <a:r>
              <a:rPr lang="en-US" dirty="0"/>
              <a:t>(</a:t>
            </a:r>
            <a:r>
              <a:rPr lang="en-US" b="1" dirty="0">
                <a:solidFill>
                  <a:schemeClr val="accent1"/>
                </a:solidFill>
              </a:rPr>
              <a:t>0.3</a:t>
            </a:r>
            <a:r>
              <a:rPr lang="en-US" dirty="0"/>
              <a:t>) effectively highlight lexical and conceptual precision in generated outputs</a:t>
            </a: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BBFEA27F-4AAE-49A3-4641-BB58236D5536}"/>
              </a:ext>
            </a:extLst>
          </p:cNvPr>
          <p:cNvSpPr/>
          <p:nvPr/>
        </p:nvSpPr>
        <p:spPr>
          <a:xfrm rot="12218514">
            <a:off x="6977669" y="3186684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08BFE10-5CA1-748A-5D00-969FFB606AEC}"/>
              </a:ext>
            </a:extLst>
          </p:cNvPr>
          <p:cNvSpPr/>
          <p:nvPr/>
        </p:nvSpPr>
        <p:spPr>
          <a:xfrm>
            <a:off x="6051754" y="2899114"/>
            <a:ext cx="452761" cy="426129"/>
          </a:xfrm>
          <a:prstGeom prst="ellipse">
            <a:avLst/>
          </a:prstGeom>
          <a:solidFill>
            <a:srgbClr val="FFFF00">
              <a:alpha val="14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8AEF5784-5A70-8B36-E849-3563784F6740}"/>
              </a:ext>
            </a:extLst>
          </p:cNvPr>
          <p:cNvSpPr/>
          <p:nvPr/>
        </p:nvSpPr>
        <p:spPr>
          <a:xfrm>
            <a:off x="3657600" y="1278384"/>
            <a:ext cx="1597981" cy="949911"/>
          </a:xfrm>
          <a:prstGeom prst="ellipse">
            <a:avLst/>
          </a:prstGeom>
          <a:solidFill>
            <a:srgbClr val="FFFF00">
              <a:alpha val="14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41634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0317BB-CB09-B89A-2FA3-C5A0BBED56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B8FBE3C-B572-5A2B-7E17-A9A6BDCAF157}"/>
              </a:ext>
            </a:extLst>
          </p:cNvPr>
          <p:cNvSpPr txBox="1"/>
          <p:nvPr/>
        </p:nvSpPr>
        <p:spPr>
          <a:xfrm>
            <a:off x="948490" y="6262155"/>
            <a:ext cx="1043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Baseline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C0C75B1-73F5-8886-78BC-4D8011885EE1}"/>
              </a:ext>
            </a:extLst>
          </p:cNvPr>
          <p:cNvSpPr txBox="1"/>
          <p:nvPr/>
        </p:nvSpPr>
        <p:spPr>
          <a:xfrm>
            <a:off x="3994085" y="6262155"/>
            <a:ext cx="23046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CoT Semantic Search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C5FE5FE-35D2-AF97-623C-81FC410CF2F7}"/>
              </a:ext>
            </a:extLst>
          </p:cNvPr>
          <p:cNvSpPr txBox="1"/>
          <p:nvPr/>
        </p:nvSpPr>
        <p:spPr>
          <a:xfrm>
            <a:off x="8051998" y="6262155"/>
            <a:ext cx="8965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CoT KG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ECBDCD-C641-8C26-662B-E023D9C4ACD1}"/>
              </a:ext>
            </a:extLst>
          </p:cNvPr>
          <p:cNvSpPr txBox="1"/>
          <p:nvPr/>
        </p:nvSpPr>
        <p:spPr>
          <a:xfrm>
            <a:off x="10163283" y="6262155"/>
            <a:ext cx="12027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CoT KG SS</a:t>
            </a:r>
          </a:p>
        </p:txBody>
      </p:sp>
      <p:pic>
        <p:nvPicPr>
          <p:cNvPr id="11266" name="Picture 2">
            <a:extLst>
              <a:ext uri="{FF2B5EF4-FFF2-40B4-BE49-F238E27FC236}">
                <a16:creationId xmlns:a16="http://schemas.microsoft.com/office/drawing/2014/main" id="{CB17DE8A-9CEA-DFF3-4D28-1853B79758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303" y="2496803"/>
            <a:ext cx="2708807" cy="37470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68" name="Picture 4">
            <a:extLst>
              <a:ext uri="{FF2B5EF4-FFF2-40B4-BE49-F238E27FC236}">
                <a16:creationId xmlns:a16="http://schemas.microsoft.com/office/drawing/2014/main" id="{DB189E03-9726-23CB-8661-41500AB0F7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6425" y="2496803"/>
            <a:ext cx="4419266" cy="37470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70" name="Picture 6">
            <a:extLst>
              <a:ext uri="{FF2B5EF4-FFF2-40B4-BE49-F238E27FC236}">
                <a16:creationId xmlns:a16="http://schemas.microsoft.com/office/drawing/2014/main" id="{2E02C1DA-8A13-50AE-8691-89AB196DDC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03111" y="2496803"/>
            <a:ext cx="1900108" cy="376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72" name="Picture 8">
            <a:extLst>
              <a:ext uri="{FF2B5EF4-FFF2-40B4-BE49-F238E27FC236}">
                <a16:creationId xmlns:a16="http://schemas.microsoft.com/office/drawing/2014/main" id="{1914717D-3A07-41C4-0830-4113151413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61643" y="2496802"/>
            <a:ext cx="2258944" cy="37418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4ABD523C-9A85-9D5E-EA07-638A9DF864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9931" y="160939"/>
            <a:ext cx="3112363" cy="469376"/>
          </a:xfrm>
        </p:spPr>
        <p:txBody>
          <a:bodyPr>
            <a:normAutofit fontScale="90000"/>
          </a:bodyPr>
          <a:lstStyle/>
          <a:p>
            <a:r>
              <a:rPr lang="en-US" sz="3200" dirty="0"/>
              <a:t>Sample #4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4F34D33-7BCD-56AF-97C6-A02BEE552B8B}"/>
              </a:ext>
            </a:extLst>
          </p:cNvPr>
          <p:cNvSpPr txBox="1"/>
          <p:nvPr/>
        </p:nvSpPr>
        <p:spPr>
          <a:xfrm>
            <a:off x="2680640" y="160939"/>
            <a:ext cx="356924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Clinical Case B: </a:t>
            </a:r>
          </a:p>
          <a:p>
            <a:endParaRPr lang="en-US" sz="1600" dirty="0"/>
          </a:p>
          <a:p>
            <a:r>
              <a:rPr lang="en-US" sz="1600" dirty="0"/>
              <a:t>ICD Code: K08109</a:t>
            </a:r>
          </a:p>
          <a:p>
            <a:r>
              <a:rPr lang="en-US" sz="1600" dirty="0"/>
              <a:t>Text Reference: edentulism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1EA7F1C-971A-0D4B-9916-732FB1C8A400}"/>
              </a:ext>
            </a:extLst>
          </p:cNvPr>
          <p:cNvSpPr txBox="1"/>
          <p:nvPr/>
        </p:nvSpPr>
        <p:spPr>
          <a:xfrm>
            <a:off x="6249880" y="226513"/>
            <a:ext cx="609452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Result Samples:</a:t>
            </a:r>
          </a:p>
          <a:p>
            <a:r>
              <a:rPr lang="en-US" sz="1800" dirty="0"/>
              <a:t>BASELINE_R088_GENERATED_TEXT</a:t>
            </a:r>
          </a:p>
          <a:p>
            <a:r>
              <a:rPr lang="en-US" sz="1800" dirty="0"/>
              <a:t>COTSS_R074_GENERATED_TEXT</a:t>
            </a:r>
          </a:p>
          <a:p>
            <a:r>
              <a:rPr lang="en-US" sz="1800" dirty="0"/>
              <a:t>COTKG_R069_GENERATED_TEXT</a:t>
            </a:r>
          </a:p>
          <a:p>
            <a:r>
              <a:rPr lang="en-US" sz="1800" dirty="0"/>
              <a:t>COTSSKG_R065_GENERATED_TEXT</a:t>
            </a:r>
          </a:p>
        </p:txBody>
      </p:sp>
    </p:spTree>
    <p:extLst>
      <p:ext uri="{BB962C8B-B14F-4D97-AF65-F5344CB8AC3E}">
        <p14:creationId xmlns:p14="http://schemas.microsoft.com/office/powerpoint/2010/main" val="32822465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35BCA0C-620C-CBF7-5AA1-585C0C53A2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927" y="856412"/>
            <a:ext cx="7547280" cy="600158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5BDEB9D-2A3F-5593-584A-271B06B7B45D}"/>
              </a:ext>
            </a:extLst>
          </p:cNvPr>
          <p:cNvSpPr txBox="1"/>
          <p:nvPr/>
        </p:nvSpPr>
        <p:spPr>
          <a:xfrm>
            <a:off x="8827185" y="500459"/>
            <a:ext cx="3401665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Clinical Case B: </a:t>
            </a:r>
          </a:p>
          <a:p>
            <a:endParaRPr lang="en-US" sz="1600" dirty="0"/>
          </a:p>
          <a:p>
            <a:r>
              <a:rPr lang="en-US" sz="1600" dirty="0"/>
              <a:t>ICD Code: K08109</a:t>
            </a:r>
          </a:p>
          <a:p>
            <a:r>
              <a:rPr lang="en-US" sz="1600" dirty="0"/>
              <a:t>Text Reference: edentulism</a:t>
            </a:r>
          </a:p>
          <a:p>
            <a:endParaRPr lang="en-US" sz="1600" dirty="0"/>
          </a:p>
          <a:p>
            <a:r>
              <a:rPr lang="en-US" sz="1600" dirty="0"/>
              <a:t>Result Samples:</a:t>
            </a:r>
          </a:p>
          <a:p>
            <a:r>
              <a:rPr lang="en-US" sz="1600" dirty="0"/>
              <a:t>BASELINE_R096_GENERATED_TEXT</a:t>
            </a:r>
          </a:p>
          <a:p>
            <a:r>
              <a:rPr lang="en-US" sz="1600" dirty="0"/>
              <a:t>COTSS_R095_GENERATED_TEXT</a:t>
            </a:r>
          </a:p>
          <a:p>
            <a:r>
              <a:rPr lang="en-US" sz="1600" dirty="0"/>
              <a:t>COTKG_R084_GENERATED_TEXT</a:t>
            </a:r>
          </a:p>
          <a:p>
            <a:r>
              <a:rPr lang="en-US" sz="1600" dirty="0"/>
              <a:t>COTSSKG_R078_GENERATED_TEXT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5FE2029-F84A-6369-8E97-00A6B1D18A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9931" y="160939"/>
            <a:ext cx="3112363" cy="469376"/>
          </a:xfrm>
        </p:spPr>
        <p:txBody>
          <a:bodyPr>
            <a:normAutofit fontScale="90000"/>
          </a:bodyPr>
          <a:lstStyle/>
          <a:p>
            <a:r>
              <a:rPr lang="en-US" sz="3200" dirty="0"/>
              <a:t>Sample #5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1333A52-10ED-63B5-FE98-74C3294C97C5}"/>
              </a:ext>
            </a:extLst>
          </p:cNvPr>
          <p:cNvSpPr txBox="1"/>
          <p:nvPr/>
        </p:nvSpPr>
        <p:spPr>
          <a:xfrm>
            <a:off x="8180296" y="3163073"/>
            <a:ext cx="3749336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CoT Semantic Search KG exhibit tightly interleaved noun clusters with ground truth, while Baseline shows more dispersed and mismatched noun groupings. </a:t>
            </a:r>
          </a:p>
          <a:p>
            <a:endParaRPr lang="en-US" dirty="0"/>
          </a:p>
          <a:p>
            <a:r>
              <a:rPr lang="en-US" dirty="0"/>
              <a:t>The chosen parameters </a:t>
            </a:r>
            <a:r>
              <a:rPr lang="en-US" b="1" dirty="0" err="1"/>
              <a:t>n_neighbors</a:t>
            </a:r>
            <a:r>
              <a:rPr lang="en-US" b="1" dirty="0"/>
              <a:t> </a:t>
            </a:r>
            <a:r>
              <a:rPr lang="en-US" dirty="0"/>
              <a:t>(</a:t>
            </a:r>
            <a:r>
              <a:rPr lang="en-US" b="1" dirty="0">
                <a:solidFill>
                  <a:schemeClr val="accent1"/>
                </a:solidFill>
              </a:rPr>
              <a:t>6</a:t>
            </a:r>
            <a:r>
              <a:rPr lang="en-US" dirty="0"/>
              <a:t>)  and </a:t>
            </a:r>
            <a:r>
              <a:rPr lang="en-US" b="1" dirty="0" err="1"/>
              <a:t>min_dist</a:t>
            </a:r>
            <a:r>
              <a:rPr lang="en-US" b="1" dirty="0"/>
              <a:t> </a:t>
            </a:r>
            <a:r>
              <a:rPr lang="en-US" dirty="0"/>
              <a:t>(</a:t>
            </a:r>
            <a:r>
              <a:rPr lang="en-US" b="1" dirty="0">
                <a:solidFill>
                  <a:schemeClr val="accent1"/>
                </a:solidFill>
              </a:rPr>
              <a:t>0.3</a:t>
            </a:r>
            <a:r>
              <a:rPr lang="en-US" dirty="0"/>
              <a:t>) effectively highlight lexical and conceptual precision in generated outputs</a:t>
            </a:r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E88CDD10-C1D0-7881-FE20-8E8ECC900E96}"/>
              </a:ext>
            </a:extLst>
          </p:cNvPr>
          <p:cNvSpPr/>
          <p:nvPr/>
        </p:nvSpPr>
        <p:spPr>
          <a:xfrm rot="12543900">
            <a:off x="6930731" y="3262144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6BC3841-61F7-AD04-E0DB-5714FB9EA3FF}"/>
              </a:ext>
            </a:extLst>
          </p:cNvPr>
          <p:cNvSpPr/>
          <p:nvPr/>
        </p:nvSpPr>
        <p:spPr>
          <a:xfrm>
            <a:off x="3844030" y="1351602"/>
            <a:ext cx="452761" cy="426129"/>
          </a:xfrm>
          <a:prstGeom prst="ellipse">
            <a:avLst/>
          </a:prstGeom>
          <a:solidFill>
            <a:srgbClr val="FFFF00">
              <a:alpha val="14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5619C12E-5B7A-97DC-DF6E-235F6B8A2FBA}"/>
              </a:ext>
            </a:extLst>
          </p:cNvPr>
          <p:cNvSpPr/>
          <p:nvPr/>
        </p:nvSpPr>
        <p:spPr>
          <a:xfrm>
            <a:off x="5480598" y="2494623"/>
            <a:ext cx="1174839" cy="870014"/>
          </a:xfrm>
          <a:prstGeom prst="ellipse">
            <a:avLst/>
          </a:prstGeom>
          <a:solidFill>
            <a:srgbClr val="FFFF00">
              <a:alpha val="14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81418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FC0BD3-2C0F-3AB9-00B6-7E2BA19879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6" name="Picture 6">
            <a:extLst>
              <a:ext uri="{FF2B5EF4-FFF2-40B4-BE49-F238E27FC236}">
                <a16:creationId xmlns:a16="http://schemas.microsoft.com/office/drawing/2014/main" id="{695865C0-1D4A-9F6F-3272-C417180AE9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686" y="2670923"/>
            <a:ext cx="2046506" cy="36277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8" name="Picture 8">
            <a:extLst>
              <a:ext uri="{FF2B5EF4-FFF2-40B4-BE49-F238E27FC236}">
                <a16:creationId xmlns:a16="http://schemas.microsoft.com/office/drawing/2014/main" id="{266DC50F-1D34-D0CA-325C-E2179B538A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4904" y="2683318"/>
            <a:ext cx="4855519" cy="36277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0" name="Picture 2">
            <a:extLst>
              <a:ext uri="{FF2B5EF4-FFF2-40B4-BE49-F238E27FC236}">
                <a16:creationId xmlns:a16="http://schemas.microsoft.com/office/drawing/2014/main" id="{9D385A14-2EB1-0BD0-3889-C330111F30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06075" y="2670922"/>
            <a:ext cx="1908566" cy="36401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>
            <a:extLst>
              <a:ext uri="{FF2B5EF4-FFF2-40B4-BE49-F238E27FC236}">
                <a16:creationId xmlns:a16="http://schemas.microsoft.com/office/drawing/2014/main" id="{6A9318F9-2498-641A-242B-F3B13285D0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83606" y="2670922"/>
            <a:ext cx="1974665" cy="36300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A7560E2-6587-5491-256A-A05765725526}"/>
              </a:ext>
            </a:extLst>
          </p:cNvPr>
          <p:cNvSpPr txBox="1"/>
          <p:nvPr/>
        </p:nvSpPr>
        <p:spPr>
          <a:xfrm>
            <a:off x="984001" y="6396517"/>
            <a:ext cx="1043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Baseline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41411DF-A3A6-E5CF-52BD-347D21F29DA1}"/>
              </a:ext>
            </a:extLst>
          </p:cNvPr>
          <p:cNvSpPr txBox="1"/>
          <p:nvPr/>
        </p:nvSpPr>
        <p:spPr>
          <a:xfrm>
            <a:off x="3910328" y="6396517"/>
            <a:ext cx="23046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CoT Semantic Search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B3F22C-C4C3-28B8-127A-0CC86707D2BD}"/>
              </a:ext>
            </a:extLst>
          </p:cNvPr>
          <p:cNvSpPr txBox="1"/>
          <p:nvPr/>
        </p:nvSpPr>
        <p:spPr>
          <a:xfrm>
            <a:off x="8107388" y="6396517"/>
            <a:ext cx="8965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CoT KG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0E27B0F-CD88-0502-1A12-A439964A3F26}"/>
              </a:ext>
            </a:extLst>
          </p:cNvPr>
          <p:cNvSpPr txBox="1"/>
          <p:nvPr/>
        </p:nvSpPr>
        <p:spPr>
          <a:xfrm>
            <a:off x="10069587" y="6396517"/>
            <a:ext cx="12027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CoT KG SS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55997416-FA75-BB71-A685-E91FDAD3A9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9931" y="160939"/>
            <a:ext cx="3112363" cy="469376"/>
          </a:xfrm>
        </p:spPr>
        <p:txBody>
          <a:bodyPr>
            <a:normAutofit fontScale="90000"/>
          </a:bodyPr>
          <a:lstStyle/>
          <a:p>
            <a:r>
              <a:rPr lang="en-US" sz="3200" dirty="0"/>
              <a:t>Sample #5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FC65F8D-1C2A-5228-B750-2AE733818346}"/>
              </a:ext>
            </a:extLst>
          </p:cNvPr>
          <p:cNvSpPr txBox="1"/>
          <p:nvPr/>
        </p:nvSpPr>
        <p:spPr>
          <a:xfrm>
            <a:off x="2680640" y="160939"/>
            <a:ext cx="356924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Clinical Case B: </a:t>
            </a:r>
          </a:p>
          <a:p>
            <a:endParaRPr lang="en-US" sz="1600" dirty="0"/>
          </a:p>
          <a:p>
            <a:r>
              <a:rPr lang="en-US" sz="1600" dirty="0"/>
              <a:t>ICD Code: K08109</a:t>
            </a:r>
          </a:p>
          <a:p>
            <a:r>
              <a:rPr lang="en-US" sz="1600" dirty="0"/>
              <a:t>Text Reference: edentulism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7556D45-6BAC-2247-5285-4C4397E54DAB}"/>
              </a:ext>
            </a:extLst>
          </p:cNvPr>
          <p:cNvSpPr txBox="1"/>
          <p:nvPr/>
        </p:nvSpPr>
        <p:spPr>
          <a:xfrm>
            <a:off x="6695983" y="233109"/>
            <a:ext cx="609452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Result Samples:</a:t>
            </a:r>
          </a:p>
          <a:p>
            <a:r>
              <a:rPr lang="en-US" sz="1800" dirty="0"/>
              <a:t>BASELINE_R096_GENERATED_TEXT</a:t>
            </a:r>
          </a:p>
          <a:p>
            <a:r>
              <a:rPr lang="en-US" sz="1800" dirty="0"/>
              <a:t>COTSS_R095_GENERATED_TEXT</a:t>
            </a:r>
          </a:p>
          <a:p>
            <a:r>
              <a:rPr lang="en-US" sz="1800" dirty="0"/>
              <a:t>COTKG_R084_GENERATED_TEXT</a:t>
            </a:r>
          </a:p>
          <a:p>
            <a:r>
              <a:rPr lang="en-US" sz="1800" dirty="0"/>
              <a:t>COTSSKG_R078_GENERATED_TEXT</a:t>
            </a:r>
          </a:p>
        </p:txBody>
      </p:sp>
    </p:spTree>
    <p:extLst>
      <p:ext uri="{BB962C8B-B14F-4D97-AF65-F5344CB8AC3E}">
        <p14:creationId xmlns:p14="http://schemas.microsoft.com/office/powerpoint/2010/main" val="15993177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1138</Words>
  <Application>Microsoft Office PowerPoint</Application>
  <PresentationFormat>Widescreen</PresentationFormat>
  <Paragraphs>188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Aptos</vt:lpstr>
      <vt:lpstr>Aptos Display</vt:lpstr>
      <vt:lpstr>Arial</vt:lpstr>
      <vt:lpstr>Office Theme</vt:lpstr>
      <vt:lpstr>Noun-Level Semantic Similarity for Sentence Pair Evaluation Using Token Embeddings</vt:lpstr>
      <vt:lpstr>Goal</vt:lpstr>
      <vt:lpstr>What is UMAP?</vt:lpstr>
      <vt:lpstr>UMAP Steps</vt:lpstr>
      <vt:lpstr>Sample #1</vt:lpstr>
      <vt:lpstr>Heatmap Steps</vt:lpstr>
      <vt:lpstr>Sample #1</vt:lpstr>
      <vt:lpstr>PowerPoint Presentation</vt:lpstr>
      <vt:lpstr>Backup Slides</vt:lpstr>
      <vt:lpstr>Sample #2</vt:lpstr>
      <vt:lpstr>Sample #2</vt:lpstr>
      <vt:lpstr>Sample #3</vt:lpstr>
      <vt:lpstr>Sample #3</vt:lpstr>
      <vt:lpstr>Sample #4</vt:lpstr>
      <vt:lpstr>Sample #4</vt:lpstr>
      <vt:lpstr>Sample #5</vt:lpstr>
      <vt:lpstr>Sample #5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MAKOHON, IVAN</dc:creator>
  <cp:lastModifiedBy>MAKOHON, IVAN</cp:lastModifiedBy>
  <cp:revision>11</cp:revision>
  <dcterms:created xsi:type="dcterms:W3CDTF">2025-06-24T19:01:55Z</dcterms:created>
  <dcterms:modified xsi:type="dcterms:W3CDTF">2025-06-24T22:58:34Z</dcterms:modified>
</cp:coreProperties>
</file>